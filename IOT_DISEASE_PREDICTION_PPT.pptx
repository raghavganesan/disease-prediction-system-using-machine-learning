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46" r:id="rId4"/>
  </p:sldMasterIdLst>
  <p:sldIdLst>
    <p:sldId id="278" r:id="rId5"/>
    <p:sldId id="279" r:id="rId6"/>
    <p:sldId id="259" r:id="rId7"/>
    <p:sldId id="260" r:id="rId8"/>
    <p:sldId id="263" r:id="rId9"/>
    <p:sldId id="264" r:id="rId10"/>
    <p:sldId id="261" r:id="rId11"/>
    <p:sldId id="262" r:id="rId12"/>
    <p:sldId id="280" r:id="rId13"/>
    <p:sldId id="281" r:id="rId14"/>
    <p:sldId id="267" r:id="rId15"/>
    <p:sldId id="269" r:id="rId16"/>
    <p:sldId id="271" r:id="rId17"/>
    <p:sldId id="272" r:id="rId18"/>
    <p:sldId id="282" r:id="rId19"/>
    <p:sldId id="283" r:id="rId20"/>
    <p:sldId id="284" r:id="rId21"/>
    <p:sldId id="285"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3A3A"/>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5" autoAdjust="0"/>
    <p:restoredTop sz="94660"/>
  </p:normalViewPr>
  <p:slideViewPr>
    <p:cSldViewPr snapToGrid="0">
      <p:cViewPr>
        <p:scale>
          <a:sx n="66" d="100"/>
          <a:sy n="66" d="100"/>
        </p:scale>
        <p:origin x="774"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E806F840-7516-4316-A9F6-81A1CCE9FFEA}" type="datetimeFigureOut">
              <a:rPr lang="en-IN" smtClean="0"/>
              <a:t>21-04-2024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3774134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BE1D723-8F53-4F53-90B0-1982A396982E}" type="datetime1">
              <a:rPr lang="en-US" smtClean="0"/>
              <a:t>21-Apr-24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166593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669AF7-7BEB-44E4-9852-375E34362B5B}" type="datetime1">
              <a:rPr lang="en-US" smtClean="0"/>
              <a:t>21-Apr-24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538082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BAAAC38D-0552-4C82-B593-E6124DFADBE2}" type="datetime1">
              <a:rPr lang="en-US" smtClean="0"/>
              <a:t>21-Apr-24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811176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E806F840-7516-4316-A9F6-81A1CCE9FFEA}" type="datetimeFigureOut">
              <a:rPr lang="en-IN" smtClean="0"/>
              <a:t>21-04-2024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27501514"/>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E806F840-7516-4316-A9F6-81A1CCE9FFEA}" type="datetimeFigureOut">
              <a:rPr lang="en-IN" smtClean="0"/>
              <a:t>21-04-2024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0680288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06F840-7516-4316-A9F6-81A1CCE9FFEA}" type="datetimeFigureOut">
              <a:rPr lang="en-IN" smtClean="0"/>
              <a:t>21-04-2024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503615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806F840-7516-4316-A9F6-81A1CCE9FFEA}" type="datetimeFigureOut">
              <a:rPr lang="en-IN" smtClean="0"/>
              <a:t>21-04-2024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927313717"/>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806F840-7516-4316-A9F6-81A1CCE9FFEA}" type="datetimeFigureOut">
              <a:rPr lang="en-IN" smtClean="0"/>
              <a:t>21-04-2024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2873192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806F840-7516-4316-A9F6-81A1CCE9FFEA}" type="datetimeFigureOut">
              <a:rPr lang="en-IN" smtClean="0"/>
              <a:t>21-04-2024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3038749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806F840-7516-4316-A9F6-81A1CCE9FFEA}" type="datetimeFigureOut">
              <a:rPr lang="en-IN" smtClean="0"/>
              <a:t>21-04-2024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22448492"/>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06F840-7516-4316-A9F6-81A1CCE9FFEA}" type="datetimeFigureOut">
              <a:rPr lang="en-IN" smtClean="0"/>
              <a:t>21-04-2024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2714804248"/>
      </p:ext>
    </p:extLst>
  </p:cSld>
  <p:clrMap bg1="lt1" tx1="dk1" bg2="lt2" tx2="dk2" accent1="accent1" accent2="accent2" accent3="accent3" accent4="accent4" accent5="accent5" accent6="accent6" hlink="hlink" folHlink="folHlink"/>
  <p:sldLayoutIdLst>
    <p:sldLayoutId id="2147483947" r:id="rId1"/>
    <p:sldLayoutId id="2147483948" r:id="rId2"/>
    <p:sldLayoutId id="2147483949" r:id="rId3"/>
    <p:sldLayoutId id="2147483950" r:id="rId4"/>
    <p:sldLayoutId id="2147483951" r:id="rId5"/>
    <p:sldLayoutId id="2147483952" r:id="rId6"/>
    <p:sldLayoutId id="2147483953" r:id="rId7"/>
    <p:sldLayoutId id="2147483954" r:id="rId8"/>
    <p:sldLayoutId id="2147483955" r:id="rId9"/>
    <p:sldLayoutId id="2147483956" r:id="rId10"/>
    <p:sldLayoutId id="2147483957" r:id="rId11"/>
  </p:sldLayoutIdLst>
  <p:transition>
    <p:fade thruBlk="1"/>
  </p:transition>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hyperlink" Target="https://drive.google.com/file/d/15XWsCplm_ZRD9m3dNUURl5aZP1x1oxqq/view?usp=sharing" TargetMode="Externa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6" name="Picture 12" descr="Solid navy blue concrete textured wa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3d medical background with virus cells and DNA stran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flipV="1">
            <a:off x="-1242016" y="1242017"/>
            <a:ext cx="6759820" cy="4275787"/>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pic>
        <p:nvPicPr>
          <p:cNvPr id="1032" name="Picture 8" descr="Representation of user experience and interface desig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75788" y="-3"/>
            <a:ext cx="7907567" cy="4665789"/>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4" name="Title 3">
            <a:extLst>
              <a:ext uri="{FF2B5EF4-FFF2-40B4-BE49-F238E27FC236}">
                <a16:creationId xmlns:a16="http://schemas.microsoft.com/office/drawing/2014/main" xmlns="" id="{459DD3CB-E696-BED2-543C-0C73FFBC85CC}"/>
              </a:ext>
            </a:extLst>
          </p:cNvPr>
          <p:cNvSpPr>
            <a:spLocks noGrp="1"/>
          </p:cNvSpPr>
          <p:nvPr>
            <p:ph type="title"/>
          </p:nvPr>
        </p:nvSpPr>
        <p:spPr>
          <a:xfrm>
            <a:off x="1164836" y="1497686"/>
            <a:ext cx="9241294" cy="1670413"/>
          </a:xfrm>
        </p:spPr>
        <p:txBody>
          <a:bodyPr>
            <a:normAutofit/>
          </a:bodyPr>
          <a:lstStyle/>
          <a:p>
            <a:r>
              <a:rPr lang="en-IN" sz="5400" dirty="0">
                <a:solidFill>
                  <a:schemeClr val="bg1"/>
                </a:solidFill>
                <a:latin typeface="Blackpast DEMO" pitchFamily="2" charset="0"/>
                <a:ea typeface="Netflix Sans Med" panose="020B0703020202020204" pitchFamily="34" charset="0"/>
                <a:cs typeface="Netflix Sans Med" panose="020B0703020202020204" pitchFamily="34" charset="0"/>
              </a:rPr>
              <a:t>Disease Prediction Using Machine Learning</a:t>
            </a:r>
          </a:p>
        </p:txBody>
      </p:sp>
      <p:sp>
        <p:nvSpPr>
          <p:cNvPr id="2" name="Text Placeholder 1"/>
          <p:cNvSpPr>
            <a:spLocks noGrp="1"/>
          </p:cNvSpPr>
          <p:nvPr>
            <p:ph type="body" idx="1"/>
          </p:nvPr>
        </p:nvSpPr>
        <p:spPr>
          <a:xfrm>
            <a:off x="7479709" y="4908525"/>
            <a:ext cx="4898333" cy="1906672"/>
          </a:xfrm>
        </p:spPr>
        <p:txBody>
          <a:bodyPr>
            <a:noAutofit/>
          </a:bodyPr>
          <a:lstStyle/>
          <a:p>
            <a:r>
              <a:rPr lang="en-IN" sz="1600" dirty="0">
                <a:solidFill>
                  <a:schemeClr val="accent4">
                    <a:lumMod val="20000"/>
                    <a:lumOff val="80000"/>
                  </a:schemeClr>
                </a:solidFill>
                <a:latin typeface="Netflix Sans Med" panose="020B0703020202020204" pitchFamily="34" charset="0"/>
                <a:ea typeface="Netflix Sans Med" panose="020B0703020202020204" pitchFamily="34" charset="0"/>
                <a:cs typeface="Netflix Sans Med" panose="020B0703020202020204" pitchFamily="34" charset="0"/>
              </a:rPr>
              <a:t>Mohammed Taeef Memon  21BEC0580</a:t>
            </a:r>
          </a:p>
          <a:p>
            <a:r>
              <a:rPr lang="en-US" sz="1600" dirty="0">
                <a:solidFill>
                  <a:schemeClr val="accent4">
                    <a:lumMod val="20000"/>
                    <a:lumOff val="80000"/>
                  </a:schemeClr>
                </a:solidFill>
                <a:latin typeface="Netflix Sans Med" panose="020B0703020202020204" pitchFamily="34" charset="0"/>
                <a:ea typeface="Netflix Sans Med" panose="020B0703020202020204" pitchFamily="34" charset="0"/>
                <a:cs typeface="Netflix Sans Med" panose="020B0703020202020204" pitchFamily="34" charset="0"/>
              </a:rPr>
              <a:t>Kartik kumar Singh  21BEC2172</a:t>
            </a:r>
          </a:p>
          <a:p>
            <a:r>
              <a:rPr lang="en-US" sz="1600" dirty="0">
                <a:solidFill>
                  <a:schemeClr val="accent4">
                    <a:lumMod val="20000"/>
                    <a:lumOff val="80000"/>
                  </a:schemeClr>
                </a:solidFill>
                <a:latin typeface="Netflix Sans Med" panose="020B0703020202020204" pitchFamily="34" charset="0"/>
                <a:ea typeface="Netflix Sans Med" panose="020B0703020202020204" pitchFamily="34" charset="0"/>
                <a:cs typeface="Netflix Sans Med" panose="020B0703020202020204" pitchFamily="34" charset="0"/>
              </a:rPr>
              <a:t>Khushi Priya  21BEC0885</a:t>
            </a:r>
          </a:p>
          <a:p>
            <a:r>
              <a:rPr lang="en-US" sz="1600" dirty="0">
                <a:solidFill>
                  <a:schemeClr val="accent4">
                    <a:lumMod val="20000"/>
                    <a:lumOff val="80000"/>
                  </a:schemeClr>
                </a:solidFill>
                <a:latin typeface="Netflix Sans Med" panose="020B0703020202020204" pitchFamily="34" charset="0"/>
                <a:ea typeface="Netflix Sans Med" panose="020B0703020202020204" pitchFamily="34" charset="0"/>
                <a:cs typeface="Netflix Sans Med" panose="020B0703020202020204" pitchFamily="34" charset="0"/>
              </a:rPr>
              <a:t>B Tharun   21BEC2063</a:t>
            </a:r>
          </a:p>
          <a:p>
            <a:r>
              <a:rPr lang="en-US" sz="1600" dirty="0">
                <a:solidFill>
                  <a:schemeClr val="accent4">
                    <a:lumMod val="20000"/>
                    <a:lumOff val="80000"/>
                  </a:schemeClr>
                </a:solidFill>
                <a:latin typeface="Netflix Sans Med" panose="020B0703020202020204" pitchFamily="34" charset="0"/>
                <a:ea typeface="Netflix Sans Med" panose="020B0703020202020204" pitchFamily="34" charset="0"/>
                <a:cs typeface="Netflix Sans Med" panose="020B0703020202020204" pitchFamily="34" charset="0"/>
              </a:rPr>
              <a:t>Raghavendran Ganesan    21BEC0996</a:t>
            </a:r>
          </a:p>
        </p:txBody>
      </p:sp>
    </p:spTree>
    <p:extLst>
      <p:ext uri="{BB962C8B-B14F-4D97-AF65-F5344CB8AC3E}">
        <p14:creationId xmlns:p14="http://schemas.microsoft.com/office/powerpoint/2010/main" val="26692053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olid navy blue concrete textured wa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79"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439587" y="1120461"/>
            <a:ext cx="9390213" cy="4401205"/>
          </a:xfrm>
          <a:prstGeom prst="rect">
            <a:avLst/>
          </a:prstGeom>
          <a:noFill/>
        </p:spPr>
        <p:txBody>
          <a:bodyPr wrap="square" rtlCol="0">
            <a:spAutoFit/>
          </a:bodyPr>
          <a:lstStyle/>
          <a:p>
            <a:pPr marL="342900" indent="-342900" algn="just">
              <a:buAutoNum type="arabicPeriod"/>
            </a:pPr>
            <a:r>
              <a:rPr lang="en-IN" sz="2800" dirty="0">
                <a:solidFill>
                  <a:schemeClr val="accent4">
                    <a:lumMod val="20000"/>
                    <a:lumOff val="80000"/>
                  </a:schemeClr>
                </a:solidFill>
                <a:latin typeface="Times New Roman" panose="02020603050405020304" pitchFamily="18" charset="0"/>
                <a:cs typeface="Times New Roman" panose="02020603050405020304" pitchFamily="18" charset="0"/>
              </a:rPr>
              <a:t>Abstract, </a:t>
            </a:r>
          </a:p>
          <a:p>
            <a:pPr marL="342900" indent="-342900" algn="just">
              <a:buAutoNum type="arabicPeriod"/>
            </a:pPr>
            <a:r>
              <a:rPr lang="en-IN" sz="2800" dirty="0">
                <a:solidFill>
                  <a:schemeClr val="accent4">
                    <a:lumMod val="20000"/>
                    <a:lumOff val="80000"/>
                  </a:schemeClr>
                </a:solidFill>
                <a:latin typeface="Times New Roman" panose="02020603050405020304" pitchFamily="18" charset="0"/>
                <a:cs typeface="Times New Roman" panose="02020603050405020304" pitchFamily="18" charset="0"/>
              </a:rPr>
              <a:t>Introduction</a:t>
            </a:r>
          </a:p>
          <a:p>
            <a:pPr marL="342900" indent="-342900" algn="just">
              <a:buAutoNum type="arabicPeriod"/>
            </a:pPr>
            <a:r>
              <a:rPr lang="en-IN" sz="2800" dirty="0">
                <a:solidFill>
                  <a:schemeClr val="accent4">
                    <a:lumMod val="20000"/>
                    <a:lumOff val="80000"/>
                  </a:schemeClr>
                </a:solidFill>
                <a:latin typeface="Times New Roman" panose="02020603050405020304" pitchFamily="18" charset="0"/>
                <a:cs typeface="Times New Roman" panose="02020603050405020304" pitchFamily="18" charset="0"/>
              </a:rPr>
              <a:t>Problem Statement</a:t>
            </a:r>
          </a:p>
          <a:p>
            <a:pPr marL="342900" indent="-342900" algn="just">
              <a:buAutoNum type="arabicPeriod"/>
            </a:pPr>
            <a:r>
              <a:rPr lang="en-IN" sz="2800" dirty="0">
                <a:solidFill>
                  <a:schemeClr val="accent4">
                    <a:lumMod val="20000"/>
                    <a:lumOff val="80000"/>
                  </a:schemeClr>
                </a:solidFill>
                <a:latin typeface="Times New Roman" panose="02020603050405020304" pitchFamily="18" charset="0"/>
                <a:cs typeface="Times New Roman" panose="02020603050405020304" pitchFamily="18" charset="0"/>
              </a:rPr>
              <a:t>Objectives</a:t>
            </a:r>
          </a:p>
          <a:p>
            <a:pPr marL="342900" indent="-342900" algn="just">
              <a:buAutoNum type="arabicPeriod"/>
            </a:pPr>
            <a:r>
              <a:rPr lang="en-IN" sz="2800" dirty="0">
                <a:solidFill>
                  <a:schemeClr val="accent4">
                    <a:lumMod val="20000"/>
                    <a:lumOff val="80000"/>
                  </a:schemeClr>
                </a:solidFill>
                <a:latin typeface="Times New Roman" panose="02020603050405020304" pitchFamily="18" charset="0"/>
                <a:cs typeface="Times New Roman" panose="02020603050405020304" pitchFamily="18" charset="0"/>
              </a:rPr>
              <a:t> Literature Survey </a:t>
            </a:r>
          </a:p>
          <a:p>
            <a:pPr marL="342900" indent="-342900" algn="just">
              <a:buAutoNum type="arabicPeriod"/>
            </a:pPr>
            <a:r>
              <a:rPr lang="en-IN" sz="2800" dirty="0">
                <a:solidFill>
                  <a:schemeClr val="accent4">
                    <a:lumMod val="20000"/>
                    <a:lumOff val="80000"/>
                  </a:schemeClr>
                </a:solidFill>
                <a:latin typeface="Times New Roman" panose="02020603050405020304" pitchFamily="18" charset="0"/>
                <a:cs typeface="Times New Roman" panose="02020603050405020304" pitchFamily="18" charset="0"/>
              </a:rPr>
              <a:t>Modelling /Design</a:t>
            </a:r>
          </a:p>
          <a:p>
            <a:pPr marL="342900" indent="-342900" algn="just">
              <a:buAutoNum type="arabicPeriod"/>
            </a:pPr>
            <a:r>
              <a:rPr lang="en-IN" sz="2800" dirty="0">
                <a:solidFill>
                  <a:schemeClr val="accent4">
                    <a:lumMod val="20000"/>
                    <a:lumOff val="80000"/>
                  </a:schemeClr>
                </a:solidFill>
                <a:latin typeface="Times New Roman" panose="02020603050405020304" pitchFamily="18" charset="0"/>
                <a:cs typeface="Times New Roman" panose="02020603050405020304" pitchFamily="18" charset="0"/>
              </a:rPr>
              <a:t> Flow Chart/Block Diagram</a:t>
            </a:r>
          </a:p>
          <a:p>
            <a:pPr marL="342900" indent="-342900" algn="just">
              <a:buAutoNum type="arabicPeriod"/>
            </a:pPr>
            <a:r>
              <a:rPr lang="en-IN" sz="2800" dirty="0">
                <a:solidFill>
                  <a:schemeClr val="accent4">
                    <a:lumMod val="20000"/>
                    <a:lumOff val="80000"/>
                  </a:schemeClr>
                </a:solidFill>
                <a:latin typeface="Times New Roman" panose="02020603050405020304" pitchFamily="18" charset="0"/>
                <a:cs typeface="Times New Roman" panose="02020603050405020304" pitchFamily="18" charset="0"/>
              </a:rPr>
              <a:t> Methodology</a:t>
            </a:r>
          </a:p>
          <a:p>
            <a:pPr marL="342900" indent="-342900" algn="just">
              <a:buAutoNum type="arabicPeriod"/>
            </a:pPr>
            <a:r>
              <a:rPr lang="en-IN" sz="2800" dirty="0">
                <a:solidFill>
                  <a:schemeClr val="accent4">
                    <a:lumMod val="20000"/>
                    <a:lumOff val="80000"/>
                  </a:schemeClr>
                </a:solidFill>
                <a:latin typeface="Times New Roman" panose="02020603050405020304" pitchFamily="18" charset="0"/>
                <a:cs typeface="Times New Roman" panose="02020603050405020304" pitchFamily="18" charset="0"/>
              </a:rPr>
              <a:t> Results </a:t>
            </a:r>
          </a:p>
          <a:p>
            <a:pPr marL="342900" indent="-342900" algn="just">
              <a:buAutoNum type="arabicPeriod"/>
            </a:pPr>
            <a:r>
              <a:rPr lang="en-IN" sz="2800" dirty="0">
                <a:solidFill>
                  <a:schemeClr val="accent4">
                    <a:lumMod val="20000"/>
                    <a:lumOff val="80000"/>
                  </a:schemeClr>
                </a:solidFill>
                <a:latin typeface="Times New Roman" panose="02020603050405020304" pitchFamily="18" charset="0"/>
                <a:cs typeface="Times New Roman" panose="02020603050405020304" pitchFamily="18" charset="0"/>
              </a:rPr>
              <a:t> Conclusion &amp; References.</a:t>
            </a:r>
          </a:p>
        </p:txBody>
      </p:sp>
      <p:sp>
        <p:nvSpPr>
          <p:cNvPr id="3" name="Rectangle 2"/>
          <p:cNvSpPr/>
          <p:nvPr/>
        </p:nvSpPr>
        <p:spPr>
          <a:xfrm>
            <a:off x="272162" y="175510"/>
            <a:ext cx="6315832" cy="769441"/>
          </a:xfrm>
          <a:prstGeom prst="rect">
            <a:avLst/>
          </a:prstGeom>
          <a:noFill/>
        </p:spPr>
        <p:txBody>
          <a:bodyPr wrap="none" lIns="91440" tIns="45720" rIns="91440" bIns="45720">
            <a:spAutoFit/>
          </a:bodyPr>
          <a:lstStyle/>
          <a:p>
            <a:pPr algn="just"/>
            <a:r>
              <a:rPr lang="en-US" sz="4400" b="1" spc="50" dirty="0">
                <a:ln w="0"/>
                <a:solidFill>
                  <a:schemeClr val="accent4">
                    <a:lumMod val="20000"/>
                    <a:lumOff val="80000"/>
                  </a:schemeClr>
                </a:solidFill>
                <a:effectLst>
                  <a:innerShdw blurRad="63500" dist="50800" dir="13500000">
                    <a:srgbClr val="000000">
                      <a:alpha val="50000"/>
                    </a:srgbClr>
                  </a:innerShdw>
                </a:effectLst>
                <a:latin typeface="Times New Roman" panose="02020603050405020304" pitchFamily="18" charset="0"/>
                <a:cs typeface="Times New Roman" panose="02020603050405020304" pitchFamily="18" charset="0"/>
              </a:rPr>
              <a:t>TABLE OF CONTENTS</a:t>
            </a:r>
          </a:p>
        </p:txBody>
      </p:sp>
    </p:spTree>
    <p:extLst>
      <p:ext uri="{BB962C8B-B14F-4D97-AF65-F5344CB8AC3E}">
        <p14:creationId xmlns:p14="http://schemas.microsoft.com/office/powerpoint/2010/main" val="23138366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Solid navy blue concrete textured wa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9" y="0"/>
            <a:ext cx="12187501" cy="68580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3"/>
          <a:stretch>
            <a:fillRect/>
          </a:stretch>
        </p:blipFill>
        <p:spPr>
          <a:xfrm>
            <a:off x="5426626" y="3274937"/>
            <a:ext cx="5922719" cy="331454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3" name="Content Placeholder 2">
            <a:extLst>
              <a:ext uri="{FF2B5EF4-FFF2-40B4-BE49-F238E27FC236}">
                <a16:creationId xmlns:a16="http://schemas.microsoft.com/office/drawing/2014/main" xmlns="" id="{4596E164-9F03-2AC7-5039-D0372C870C65}"/>
              </a:ext>
            </a:extLst>
          </p:cNvPr>
          <p:cNvSpPr>
            <a:spLocks noGrp="1"/>
          </p:cNvSpPr>
          <p:nvPr>
            <p:ph idx="1"/>
          </p:nvPr>
        </p:nvSpPr>
        <p:spPr>
          <a:xfrm>
            <a:off x="331091" y="800476"/>
            <a:ext cx="10723631" cy="2474461"/>
          </a:xfrm>
        </p:spPr>
        <p:txBody>
          <a:bodyPr>
            <a:normAutofit/>
          </a:bodyPr>
          <a:lstStyle/>
          <a:p>
            <a:pPr marL="0" indent="0" algn="just">
              <a:buNone/>
            </a:pPr>
            <a:r>
              <a:rPr lang="en-US" sz="2000" dirty="0">
                <a:solidFill>
                  <a:schemeClr val="accent4">
                    <a:lumMod val="20000"/>
                    <a:lumOff val="80000"/>
                  </a:schemeClr>
                </a:solidFill>
                <a:latin typeface="Times New Roman" panose="02020603050405020304" pitchFamily="18" charset="0"/>
                <a:cs typeface="Times New Roman" panose="02020603050405020304" pitchFamily="18" charset="0"/>
              </a:rPr>
              <a:t>Accurate and on-time analysis of any health-related problem is important for the prevention and treatment of the illness. The traditional way of diagnosis may not be sufficient in the case of a serious ailment. Developing a medical diagnosis system based on machine learning (ML) algorithms for prediction of any disease can help in a more accurate diagnosis than the conventional method. </a:t>
            </a:r>
          </a:p>
          <a:p>
            <a:pPr marL="0" indent="0" algn="just">
              <a:buNone/>
            </a:pPr>
            <a:r>
              <a:rPr lang="en-US" sz="2000" dirty="0">
                <a:solidFill>
                  <a:schemeClr val="accent4">
                    <a:lumMod val="20000"/>
                    <a:lumOff val="80000"/>
                  </a:schemeClr>
                </a:solidFill>
                <a:latin typeface="Times New Roman" panose="02020603050405020304" pitchFamily="18" charset="0"/>
                <a:cs typeface="Times New Roman" panose="02020603050405020304" pitchFamily="18" charset="0"/>
              </a:rPr>
              <a:t>We have designed a disease prediction system using multiple ML algorithms. The dataset used had   more than </a:t>
            </a:r>
            <a:r>
              <a:rPr lang="en-US" sz="2000" dirty="0" smtClean="0">
                <a:solidFill>
                  <a:schemeClr val="accent4">
                    <a:lumMod val="20000"/>
                    <a:lumOff val="80000"/>
                  </a:schemeClr>
                </a:solidFill>
                <a:latin typeface="Times New Roman" panose="02020603050405020304" pitchFamily="18" charset="0"/>
                <a:cs typeface="Times New Roman" panose="02020603050405020304" pitchFamily="18" charset="0"/>
              </a:rPr>
              <a:t>41</a:t>
            </a:r>
            <a:r>
              <a:rPr lang="en-US" sz="2000" dirty="0" smtClean="0">
                <a:solidFill>
                  <a:schemeClr val="accent4">
                    <a:lumMod val="20000"/>
                    <a:lumOff val="80000"/>
                  </a:schemeClr>
                </a:solidFill>
                <a:latin typeface="Times New Roman" panose="02020603050405020304" pitchFamily="18" charset="0"/>
                <a:cs typeface="Times New Roman" panose="02020603050405020304" pitchFamily="18" charset="0"/>
              </a:rPr>
              <a:t> </a:t>
            </a:r>
            <a:r>
              <a:rPr lang="en-US" sz="2000" dirty="0">
                <a:solidFill>
                  <a:schemeClr val="accent4">
                    <a:lumMod val="20000"/>
                    <a:lumOff val="80000"/>
                  </a:schemeClr>
                </a:solidFill>
                <a:latin typeface="Times New Roman" panose="02020603050405020304" pitchFamily="18" charset="0"/>
                <a:cs typeface="Times New Roman" panose="02020603050405020304" pitchFamily="18" charset="0"/>
              </a:rPr>
              <a:t>diseases for processing. Based on </a:t>
            </a:r>
            <a:r>
              <a:rPr lang="en-US" sz="2000" dirty="0" smtClean="0">
                <a:solidFill>
                  <a:schemeClr val="accent4">
                    <a:lumMod val="20000"/>
                    <a:lumOff val="80000"/>
                  </a:schemeClr>
                </a:solidFill>
                <a:latin typeface="Times New Roman" panose="02020603050405020304" pitchFamily="18" charset="0"/>
                <a:cs typeface="Times New Roman" panose="02020603050405020304" pitchFamily="18" charset="0"/>
              </a:rPr>
              <a:t>the 132 </a:t>
            </a:r>
            <a:r>
              <a:rPr lang="en-US" sz="2000" dirty="0">
                <a:solidFill>
                  <a:schemeClr val="accent4">
                    <a:lumMod val="20000"/>
                    <a:lumOff val="80000"/>
                  </a:schemeClr>
                </a:solidFill>
                <a:latin typeface="Times New Roman" panose="02020603050405020304" pitchFamily="18" charset="0"/>
                <a:cs typeface="Times New Roman" panose="02020603050405020304" pitchFamily="18" charset="0"/>
              </a:rPr>
              <a:t>symptoms, age, and gender of an individual, the diagnosis system gives the output as the disease that the individual might be suffering from. We have used Naive Bayes, svm and random forest algorithms for prediction.</a:t>
            </a:r>
          </a:p>
        </p:txBody>
      </p:sp>
      <p:sp>
        <p:nvSpPr>
          <p:cNvPr id="2" name="Title 1">
            <a:extLst>
              <a:ext uri="{FF2B5EF4-FFF2-40B4-BE49-F238E27FC236}">
                <a16:creationId xmlns:a16="http://schemas.microsoft.com/office/drawing/2014/main" xmlns="" id="{02742F74-0B20-880A-EA5E-6CD452FF459C}"/>
              </a:ext>
            </a:extLst>
          </p:cNvPr>
          <p:cNvSpPr>
            <a:spLocks noGrp="1"/>
          </p:cNvSpPr>
          <p:nvPr>
            <p:ph type="title"/>
          </p:nvPr>
        </p:nvSpPr>
        <p:spPr>
          <a:xfrm>
            <a:off x="331091" y="0"/>
            <a:ext cx="6592400" cy="860400"/>
          </a:xfrm>
        </p:spPr>
        <p:txBody>
          <a:bodyPr/>
          <a:lstStyle/>
          <a:p>
            <a:r>
              <a:rPr lang="en-IN" b="1" u="sng" dirty="0">
                <a:solidFill>
                  <a:schemeClr val="accent4">
                    <a:lumMod val="20000"/>
                    <a:lumOff val="80000"/>
                  </a:schemeClr>
                </a:solidFill>
                <a:latin typeface="Times New Roman" panose="02020603050405020304" pitchFamily="18" charset="0"/>
                <a:cs typeface="Times New Roman" panose="02020603050405020304" pitchFamily="18" charset="0"/>
              </a:rPr>
              <a:t>Abstract</a:t>
            </a:r>
          </a:p>
        </p:txBody>
      </p:sp>
      <p:pic>
        <p:nvPicPr>
          <p:cNvPr id="1026" name="Picture 2" descr="Machine Learning 101 - DATAVERSITY"/>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38211" y="4146913"/>
            <a:ext cx="3159615" cy="2612237"/>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331091" y="3119561"/>
            <a:ext cx="4768941" cy="1323439"/>
          </a:xfrm>
          <a:prstGeom prst="rect">
            <a:avLst/>
          </a:prstGeom>
          <a:noFill/>
        </p:spPr>
        <p:txBody>
          <a:bodyPr wrap="square" rtlCol="0">
            <a:spAutoFit/>
          </a:bodyPr>
          <a:lstStyle/>
          <a:p>
            <a:pPr algn="just"/>
            <a:r>
              <a:rPr lang="en-US" sz="2000" dirty="0">
                <a:solidFill>
                  <a:schemeClr val="accent4">
                    <a:lumMod val="20000"/>
                    <a:lumOff val="80000"/>
                  </a:schemeClr>
                </a:solidFill>
                <a:latin typeface="Times New Roman" panose="02020603050405020304" pitchFamily="18" charset="0"/>
                <a:cs typeface="Times New Roman" panose="02020603050405020304" pitchFamily="18" charset="0"/>
              </a:rPr>
              <a:t>Our diagnosis model can act as a doctor for the early diagnosis of a disease to ensure the treatment can take place on time and lives can be saved.</a:t>
            </a:r>
            <a:endParaRPr lang="en-IN" sz="2000" dirty="0">
              <a:solidFill>
                <a:schemeClr val="accent4">
                  <a:lumMod val="20000"/>
                  <a:lumOff val="8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46077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Solid navy blue concrete textured wa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01" y="0"/>
            <a:ext cx="12217401" cy="68580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Solid navy blue concrete textured w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9" y="0"/>
            <a:ext cx="12187501"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itle 4"/>
          <p:cNvSpPr>
            <a:spLocks noGrp="1"/>
          </p:cNvSpPr>
          <p:nvPr>
            <p:ph type="title"/>
          </p:nvPr>
        </p:nvSpPr>
        <p:spPr>
          <a:xfrm>
            <a:off x="151267" y="99253"/>
            <a:ext cx="6592400" cy="860400"/>
          </a:xfrm>
        </p:spPr>
        <p:txBody>
          <a:bodyPr/>
          <a:lstStyle/>
          <a:p>
            <a:r>
              <a:rPr lang="en-IN" b="1" u="sng" dirty="0">
                <a:solidFill>
                  <a:schemeClr val="accent4">
                    <a:lumMod val="20000"/>
                    <a:lumOff val="80000"/>
                  </a:schemeClr>
                </a:solidFill>
                <a:latin typeface="Times New Roman" panose="02020603050405020304" pitchFamily="18" charset="0"/>
                <a:cs typeface="Times New Roman" panose="02020603050405020304" pitchFamily="18" charset="0"/>
              </a:rPr>
              <a:t>Introduction</a:t>
            </a:r>
            <a:endParaRPr lang="en-IN" u="sng" dirty="0">
              <a:solidFill>
                <a:schemeClr val="accent4">
                  <a:lumMod val="20000"/>
                  <a:lumOff val="80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8D658235-400C-7953-2EF8-D413F9686D3B}"/>
              </a:ext>
            </a:extLst>
          </p:cNvPr>
          <p:cNvSpPr>
            <a:spLocks noGrp="1"/>
          </p:cNvSpPr>
          <p:nvPr>
            <p:ph sz="half" idx="1"/>
          </p:nvPr>
        </p:nvSpPr>
        <p:spPr>
          <a:xfrm>
            <a:off x="151268" y="959653"/>
            <a:ext cx="6859132" cy="3161586"/>
          </a:xfrm>
        </p:spPr>
        <p:txBody>
          <a:bodyPr>
            <a:normAutofit lnSpcReduction="10000"/>
          </a:bodyPr>
          <a:lstStyle/>
          <a:p>
            <a:pPr marL="0" indent="0" algn="just">
              <a:buNone/>
            </a:pPr>
            <a:r>
              <a:rPr lang="en-US" sz="1800" dirty="0">
                <a:solidFill>
                  <a:schemeClr val="accent4">
                    <a:lumMod val="20000"/>
                    <a:lumOff val="80000"/>
                  </a:schemeClr>
                </a:solidFill>
                <a:latin typeface="Times New Roman" panose="02020603050405020304" pitchFamily="18" charset="0"/>
                <a:cs typeface="Times New Roman" panose="02020603050405020304" pitchFamily="18" charset="0"/>
              </a:rPr>
              <a:t>In healthcare, the role of doctors and nurses is vital, especially with the rise of virtual care. While virtual doctors offer remote assistance, they may not suffice for emergencies. Yet, advancements like disease predictors show promise for better healthcare access, notably in remote areas. These predictors, devoid of human error, prove valuable during outbreaks like COVID-19 and Ebola by diagnosing without physical contact.</a:t>
            </a:r>
          </a:p>
          <a:p>
            <a:pPr marL="0" indent="0" algn="just">
              <a:buNone/>
            </a:pPr>
            <a:r>
              <a:rPr lang="en-US" sz="1800" dirty="0">
                <a:solidFill>
                  <a:schemeClr val="accent4">
                    <a:lumMod val="20000"/>
                    <a:lumOff val="80000"/>
                  </a:schemeClr>
                </a:solidFill>
                <a:latin typeface="Times New Roman" panose="02020603050405020304" pitchFamily="18" charset="0"/>
                <a:cs typeface="Times New Roman" panose="02020603050405020304" pitchFamily="18" charset="0"/>
              </a:rPr>
              <a:t>Existing virtual doctor models often lack accuracy due to incomplete parameters. To tackle this, we've developed and assessed multiple models, leveraging machine learning techniques like Decision Trees, Naive Bayes, SVM, and Random Forest. Our goal is to enhance prediction accuracy by categorizing raw data by gender, age, and symptoms.</a:t>
            </a:r>
          </a:p>
        </p:txBody>
      </p:sp>
      <p:pic>
        <p:nvPicPr>
          <p:cNvPr id="6" name="Content Placeholder 5">
            <a:extLst>
              <a:ext uri="{FF2B5EF4-FFF2-40B4-BE49-F238E27FC236}">
                <a16:creationId xmlns:a16="http://schemas.microsoft.com/office/drawing/2014/main" xmlns="" id="{7EFB4510-AB04-A676-9001-8118F9F09B25}"/>
              </a:ext>
            </a:extLst>
          </p:cNvPr>
          <p:cNvPicPr>
            <a:picLocks noGrp="1" noChangeAspect="1"/>
          </p:cNvPicPr>
          <p:nvPr>
            <p:ph sz="half" idx="2"/>
          </p:nvPr>
        </p:nvPicPr>
        <p:blipFill>
          <a:blip r:embed="rId4" cstate="print">
            <a:extLst>
              <a:ext uri="{28A0092B-C50C-407E-A947-70E740481C1C}">
                <a14:useLocalDpi xmlns:a14="http://schemas.microsoft.com/office/drawing/2010/main" val="0"/>
              </a:ext>
            </a:extLst>
          </a:blip>
          <a:stretch>
            <a:fillRect/>
          </a:stretch>
        </p:blipFill>
        <p:spPr>
          <a:xfrm>
            <a:off x="7157169" y="1191472"/>
            <a:ext cx="4885102" cy="4214839"/>
          </a:xfrm>
          <a:prstGeom prst="roundRect">
            <a:avLst>
              <a:gd name="adj" fmla="val 11111"/>
            </a:avLst>
          </a:prstGeom>
          <a:ln w="190500" cap="rnd">
            <a:solidFill>
              <a:srgbClr val="C8C6BD"/>
            </a:solidFill>
            <a:prstDash val="solid"/>
          </a:ln>
          <a:effectLst>
            <a:outerShdw blurRad="101600" dist="50800" dir="7200000" algn="tl" rotWithShape="0">
              <a:srgbClr val="000000">
                <a:alpha val="45000"/>
              </a:srgbClr>
            </a:outerShdw>
          </a:effectLst>
          <a:scene3d>
            <a:camera prst="perspectiveFront" fov="5400000"/>
            <a:lightRig rig="threePt" dir="t">
              <a:rot lat="0" lon="0" rev="19200000"/>
            </a:lightRig>
          </a:scene3d>
          <a:sp3d extrusionH="25400">
            <a:bevelT w="304800" h="152400" prst="hardEdge"/>
            <a:extrusionClr>
              <a:srgbClr val="FFFFFF"/>
            </a:extrusionClr>
          </a:sp3d>
        </p:spPr>
      </p:pic>
      <p:sp>
        <p:nvSpPr>
          <p:cNvPr id="2" name="TextBox 1"/>
          <p:cNvSpPr txBox="1"/>
          <p:nvPr/>
        </p:nvSpPr>
        <p:spPr>
          <a:xfrm>
            <a:off x="151266" y="3965976"/>
            <a:ext cx="6726051" cy="2031325"/>
          </a:xfrm>
          <a:prstGeom prst="rect">
            <a:avLst/>
          </a:prstGeom>
          <a:noFill/>
        </p:spPr>
        <p:txBody>
          <a:bodyPr wrap="square" rtlCol="0">
            <a:spAutoFit/>
          </a:bodyPr>
          <a:lstStyle/>
          <a:p>
            <a:pPr algn="just"/>
            <a:r>
              <a:rPr lang="en-US" dirty="0">
                <a:solidFill>
                  <a:schemeClr val="accent4">
                    <a:lumMod val="20000"/>
                    <a:lumOff val="80000"/>
                  </a:schemeClr>
                </a:solidFill>
                <a:latin typeface="Times New Roman" panose="02020603050405020304" pitchFamily="18" charset="0"/>
                <a:cs typeface="Times New Roman" panose="02020603050405020304" pitchFamily="18" charset="0"/>
              </a:rPr>
              <a:t>Our project addresses the need for improved disease detection using machine learning algorithms such as Naive Bayes, SVM, and Random Forest. By analyzing patient symptoms and history, we aim to identify chronic illnesses accurately. We'll compare our model's performance against conventional methods to showcase its effectiveness, contributing to healthcare technology advancement and better public health outcomes.</a:t>
            </a:r>
            <a:endParaRPr lang="en-IN" dirty="0">
              <a:solidFill>
                <a:schemeClr val="accent4">
                  <a:lumMod val="20000"/>
                  <a:lumOff val="8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86435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Solid navy blue concrete textured wa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280" y="0"/>
            <a:ext cx="12217401" cy="68580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Solid navy blue concrete textured w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0" y="0"/>
            <a:ext cx="12187501"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xmlns="" id="{CCBE3890-079C-24F4-597E-5A4D2987DCAD}"/>
              </a:ext>
            </a:extLst>
          </p:cNvPr>
          <p:cNvSpPr>
            <a:spLocks noGrp="1"/>
          </p:cNvSpPr>
          <p:nvPr>
            <p:ph type="title"/>
          </p:nvPr>
        </p:nvSpPr>
        <p:spPr>
          <a:xfrm>
            <a:off x="433436" y="302418"/>
            <a:ext cx="9039896" cy="1325563"/>
          </a:xfrm>
        </p:spPr>
        <p:txBody>
          <a:bodyPr/>
          <a:lstStyle/>
          <a:p>
            <a:r>
              <a:rPr lang="en-IN" b="1" u="sng" dirty="0">
                <a:solidFill>
                  <a:schemeClr val="accent4">
                    <a:lumMod val="20000"/>
                    <a:lumOff val="80000"/>
                  </a:schemeClr>
                </a:solidFill>
                <a:latin typeface="Times New Roman" panose="02020603050405020304" pitchFamily="18" charset="0"/>
                <a:cs typeface="Times New Roman" panose="02020603050405020304" pitchFamily="18" charset="0"/>
              </a:rPr>
              <a:t>Problem Statement</a:t>
            </a:r>
          </a:p>
        </p:txBody>
      </p:sp>
      <p:sp>
        <p:nvSpPr>
          <p:cNvPr id="4" name="TextBox 3"/>
          <p:cNvSpPr txBox="1"/>
          <p:nvPr/>
        </p:nvSpPr>
        <p:spPr>
          <a:xfrm>
            <a:off x="433436" y="1536174"/>
            <a:ext cx="9216572" cy="3785652"/>
          </a:xfrm>
          <a:prstGeom prst="rect">
            <a:avLst/>
          </a:prstGeom>
          <a:noFill/>
        </p:spPr>
        <p:txBody>
          <a:bodyPr wrap="square" rtlCol="0">
            <a:spAutoFit/>
          </a:bodyPr>
          <a:lstStyle/>
          <a:p>
            <a:pPr algn="just"/>
            <a:r>
              <a:rPr lang="en-US" sz="2400" dirty="0">
                <a:solidFill>
                  <a:schemeClr val="accent4">
                    <a:lumMod val="20000"/>
                    <a:lumOff val="80000"/>
                  </a:schemeClr>
                </a:solidFill>
                <a:latin typeface="Times New Roman" panose="02020603050405020304" pitchFamily="18" charset="0"/>
                <a:cs typeface="Times New Roman" panose="02020603050405020304" pitchFamily="18" charset="0"/>
              </a:rPr>
              <a:t>The healthcare sector faces a significant challenge in timely disease detection and prevention, leading to increased morbidity and mortality rates. Despite advancements in medical science, there is a lack of efficient systems to predict diseases based on reported symptoms, thereby hindering preventive measures. Therefore, the objective of this project is to develop an accurate and reliable disease prediction system that utilizes reported symptoms to prevent the onset or progression of diseases. This system aims to provide early detection and personalized preventive strategies, ultimately improving overall health outcomes and reducing the burden on healthcare systems.</a:t>
            </a:r>
            <a:r>
              <a:rPr lang="en-IN" sz="2400" dirty="0">
                <a:solidFill>
                  <a:schemeClr val="accent4">
                    <a:lumMod val="20000"/>
                    <a:lumOff val="80000"/>
                  </a:schemeClr>
                </a:solidFill>
                <a:latin typeface="Times New Roman" panose="02020603050405020304" pitchFamily="18" charset="0"/>
                <a:cs typeface="Times New Roman" panose="02020603050405020304" pitchFamily="18" charset="0"/>
              </a:rPr>
              <a:t>in medical sciences</a:t>
            </a:r>
            <a:endParaRPr lang="en-IN" sz="2400" dirty="0">
              <a:solidFill>
                <a:schemeClr val="accent4">
                  <a:lumMod val="20000"/>
                  <a:lumOff val="8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45870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Solid navy blue concrete textured wa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01" y="0"/>
            <a:ext cx="12217401" cy="68580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Solid navy blue concrete textured w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9" y="0"/>
            <a:ext cx="12187501"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xmlns="" id="{EEB16C17-B5E4-199C-3BA7-FB0B59ACC2E3}"/>
              </a:ext>
            </a:extLst>
          </p:cNvPr>
          <p:cNvSpPr>
            <a:spLocks noGrp="1"/>
          </p:cNvSpPr>
          <p:nvPr>
            <p:ph type="title"/>
          </p:nvPr>
        </p:nvSpPr>
        <p:spPr/>
        <p:txBody>
          <a:bodyPr/>
          <a:lstStyle/>
          <a:p>
            <a:r>
              <a:rPr lang="en-IN" b="1" u="sng" dirty="0">
                <a:solidFill>
                  <a:schemeClr val="accent4">
                    <a:lumMod val="20000"/>
                    <a:lumOff val="80000"/>
                  </a:schemeClr>
                </a:solidFill>
                <a:latin typeface="Times New Roman" panose="02020603050405020304" pitchFamily="18" charset="0"/>
                <a:cs typeface="Times New Roman" panose="02020603050405020304" pitchFamily="18" charset="0"/>
              </a:rPr>
              <a:t>Objectives</a:t>
            </a:r>
          </a:p>
        </p:txBody>
      </p:sp>
      <p:sp>
        <p:nvSpPr>
          <p:cNvPr id="3" name="Content Placeholder 2">
            <a:extLst>
              <a:ext uri="{FF2B5EF4-FFF2-40B4-BE49-F238E27FC236}">
                <a16:creationId xmlns:a16="http://schemas.microsoft.com/office/drawing/2014/main" xmlns="" id="{6278A949-4001-F997-EACB-45C01479712C}"/>
              </a:ext>
            </a:extLst>
          </p:cNvPr>
          <p:cNvSpPr>
            <a:spLocks noGrp="1"/>
          </p:cNvSpPr>
          <p:nvPr>
            <p:ph idx="1"/>
          </p:nvPr>
        </p:nvSpPr>
        <p:spPr/>
        <p:txBody>
          <a:bodyPr>
            <a:normAutofit lnSpcReduction="10000"/>
          </a:bodyPr>
          <a:lstStyle/>
          <a:p>
            <a:r>
              <a:rPr lang="en-US" dirty="0">
                <a:solidFill>
                  <a:schemeClr val="accent4">
                    <a:lumMod val="20000"/>
                    <a:lumOff val="80000"/>
                  </a:schemeClr>
                </a:solidFill>
                <a:latin typeface="Times New Roman" panose="02020603050405020304" pitchFamily="18" charset="0"/>
                <a:cs typeface="Times New Roman" panose="02020603050405020304" pitchFamily="18" charset="0"/>
              </a:rPr>
              <a:t>Developing a Predictive Model: Build machine learning models capable of predicting diseases based on symptoms.</a:t>
            </a:r>
          </a:p>
          <a:p>
            <a:r>
              <a:rPr lang="en-US" dirty="0">
                <a:solidFill>
                  <a:schemeClr val="accent4">
                    <a:lumMod val="20000"/>
                    <a:lumOff val="80000"/>
                  </a:schemeClr>
                </a:solidFill>
                <a:latin typeface="Times New Roman" panose="02020603050405020304" pitchFamily="18" charset="0"/>
                <a:cs typeface="Times New Roman" panose="02020603050405020304" pitchFamily="18" charset="0"/>
              </a:rPr>
              <a:t>Evaluation of Models: Assess the performance of different models to determine which one provides the most accurate predictions.</a:t>
            </a:r>
          </a:p>
          <a:p>
            <a:r>
              <a:rPr lang="en-US" dirty="0">
                <a:solidFill>
                  <a:schemeClr val="accent4">
                    <a:lumMod val="20000"/>
                    <a:lumOff val="80000"/>
                  </a:schemeClr>
                </a:solidFill>
                <a:latin typeface="Times New Roman" panose="02020603050405020304" pitchFamily="18" charset="0"/>
                <a:cs typeface="Times New Roman" panose="02020603050405020304" pitchFamily="18" charset="0"/>
              </a:rPr>
              <a:t>Creating a User Interface: Develop an interface where users can input symptoms, and the system will provide predictions.</a:t>
            </a:r>
          </a:p>
          <a:p>
            <a:r>
              <a:rPr lang="en-US" dirty="0">
                <a:solidFill>
                  <a:schemeClr val="accent4">
                    <a:lumMod val="20000"/>
                    <a:lumOff val="80000"/>
                  </a:schemeClr>
                </a:solidFill>
                <a:latin typeface="Times New Roman" panose="02020603050405020304" pitchFamily="18" charset="0"/>
                <a:cs typeface="Times New Roman" panose="02020603050405020304" pitchFamily="18" charset="0"/>
              </a:rPr>
              <a:t>Scalability: Ensure that the system can handle a large number of symptoms and diseases efficiently.</a:t>
            </a:r>
          </a:p>
          <a:p>
            <a:r>
              <a:rPr lang="en-US" dirty="0">
                <a:solidFill>
                  <a:schemeClr val="accent4">
                    <a:lumMod val="20000"/>
                    <a:lumOff val="80000"/>
                  </a:schemeClr>
                </a:solidFill>
                <a:latin typeface="Times New Roman" panose="02020603050405020304" pitchFamily="18" charset="0"/>
                <a:cs typeface="Times New Roman" panose="02020603050405020304" pitchFamily="18" charset="0"/>
              </a:rPr>
              <a:t>Interpretability: Make the system interpretable so that users can understand how predictions are made.</a:t>
            </a:r>
            <a:endParaRPr lang="en-IN" dirty="0">
              <a:solidFill>
                <a:schemeClr val="accent4">
                  <a:lumMod val="20000"/>
                  <a:lumOff val="8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23953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Solid navy blue concrete textured wa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01" y="0"/>
            <a:ext cx="12217401" cy="68580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Solid navy blue concrete textured w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9" y="0"/>
            <a:ext cx="12187501"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xmlns="" id="{8D6F41C4-C1B3-CE8E-93D6-C411E2BBEFAB}"/>
              </a:ext>
            </a:extLst>
          </p:cNvPr>
          <p:cNvSpPr>
            <a:spLocks noGrp="1"/>
          </p:cNvSpPr>
          <p:nvPr>
            <p:ph type="title"/>
          </p:nvPr>
        </p:nvSpPr>
        <p:spPr>
          <a:xfrm>
            <a:off x="242016" y="-34552"/>
            <a:ext cx="10515600" cy="1054100"/>
          </a:xfrm>
        </p:spPr>
        <p:txBody>
          <a:bodyPr/>
          <a:lstStyle/>
          <a:p>
            <a:r>
              <a:rPr lang="en-IN" b="1" u="sng" dirty="0">
                <a:solidFill>
                  <a:schemeClr val="accent4">
                    <a:lumMod val="40000"/>
                    <a:lumOff val="60000"/>
                  </a:schemeClr>
                </a:solidFill>
                <a:latin typeface="Times New Roman" panose="02020603050405020304" pitchFamily="18" charset="0"/>
                <a:cs typeface="Times New Roman" panose="02020603050405020304" pitchFamily="18" charset="0"/>
              </a:rPr>
              <a:t>Literature Survey</a:t>
            </a:r>
          </a:p>
        </p:txBody>
      </p:sp>
      <p:pic>
        <p:nvPicPr>
          <p:cNvPr id="2052" name="Picture 4" descr="I want to write a literature review, where do I start? - ANMJ"/>
          <p:cNvPicPr>
            <a:picLocks noChangeAspect="1" noChangeArrowheads="1"/>
          </p:cNvPicPr>
          <p:nvPr/>
        </p:nvPicPr>
        <p:blipFill rotWithShape="1">
          <a:blip r:embed="rId4" cstate="print">
            <a:duotone>
              <a:prstClr val="black"/>
              <a:schemeClr val="accent3">
                <a:lumMod val="40000"/>
                <a:lumOff val="60000"/>
                <a:tint val="45000"/>
                <a:satMod val="400000"/>
              </a:schemeClr>
            </a:duotone>
            <a:extLst>
              <a:ext uri="{28A0092B-C50C-407E-A947-70E740481C1C}">
                <a14:useLocalDpi xmlns:a14="http://schemas.microsoft.com/office/drawing/2010/main" val="0"/>
              </a:ext>
            </a:extLst>
          </a:blip>
          <a:srcRect b="16787"/>
          <a:stretch/>
        </p:blipFill>
        <p:spPr bwMode="auto">
          <a:xfrm>
            <a:off x="9184048" y="1475025"/>
            <a:ext cx="2906461" cy="2409452"/>
          </a:xfrm>
          <a:prstGeom prst="roundRect">
            <a:avLst>
              <a:gd name="adj" fmla="val 8594"/>
            </a:avLst>
          </a:prstGeom>
          <a:solidFill>
            <a:srgbClr val="FFFFFF">
              <a:shade val="85000"/>
            </a:srgbClr>
          </a:solidFill>
          <a:ln>
            <a:noFill/>
          </a:ln>
          <a:effectLst>
            <a:outerShdw blurRad="44450" dist="27940" dir="5400000" algn="ctr">
              <a:srgbClr val="000000">
                <a:alpha val="32000"/>
              </a:srgbClr>
            </a:outerShdw>
            <a:reflection blurRad="12700" stA="38000" endPos="28000" dist="5000" dir="5400000" sy="-100000" algn="bl" rotWithShape="0"/>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Lst>
        </p:spPr>
      </p:pic>
      <p:sp>
        <p:nvSpPr>
          <p:cNvPr id="10" name="Content Placeholder 9">
            <a:extLst>
              <a:ext uri="{FF2B5EF4-FFF2-40B4-BE49-F238E27FC236}">
                <a16:creationId xmlns:a16="http://schemas.microsoft.com/office/drawing/2014/main" xmlns="" id="{9C31E8EB-42AF-8D1C-A860-C07BC95F1586}"/>
              </a:ext>
            </a:extLst>
          </p:cNvPr>
          <p:cNvSpPr>
            <a:spLocks noGrp="1"/>
          </p:cNvSpPr>
          <p:nvPr>
            <p:ph idx="1"/>
          </p:nvPr>
        </p:nvSpPr>
        <p:spPr>
          <a:xfrm>
            <a:off x="271099" y="1019548"/>
            <a:ext cx="8883866" cy="4076699"/>
          </a:xfrm>
        </p:spPr>
        <p:txBody>
          <a:bodyPr>
            <a:noAutofit/>
          </a:bodyPr>
          <a:lstStyle/>
          <a:p>
            <a:pPr algn="just"/>
            <a:r>
              <a:rPr lang="en-IN" sz="2000" b="1" dirty="0">
                <a:solidFill>
                  <a:schemeClr val="accent4">
                    <a:lumMod val="40000"/>
                    <a:lumOff val="60000"/>
                  </a:schemeClr>
                </a:solidFill>
                <a:latin typeface="Times New Roman" panose="02020603050405020304" pitchFamily="18" charset="0"/>
                <a:cs typeface="Times New Roman" panose="02020603050405020304" pitchFamily="18" charset="0"/>
              </a:rPr>
              <a:t>Common Diseases</a:t>
            </a:r>
          </a:p>
          <a:p>
            <a:pPr marL="0" indent="0" algn="just">
              <a:buNone/>
            </a:pPr>
            <a:r>
              <a:rPr lang="en-US" sz="2000" dirty="0" err="1">
                <a:solidFill>
                  <a:schemeClr val="accent4">
                    <a:lumMod val="40000"/>
                    <a:lumOff val="60000"/>
                  </a:schemeClr>
                </a:solidFill>
                <a:latin typeface="Times New Roman" panose="02020603050405020304" pitchFamily="18" charset="0"/>
                <a:cs typeface="Times New Roman" panose="02020603050405020304" pitchFamily="18" charset="0"/>
              </a:rPr>
              <a:t>Dahiwade</a:t>
            </a:r>
            <a:r>
              <a:rPr lang="en-US" sz="2000" dirty="0">
                <a:solidFill>
                  <a:schemeClr val="accent4">
                    <a:lumMod val="40000"/>
                    <a:lumOff val="60000"/>
                  </a:schemeClr>
                </a:solidFill>
                <a:latin typeface="Times New Roman" panose="02020603050405020304" pitchFamily="18" charset="0"/>
                <a:cs typeface="Times New Roman" panose="02020603050405020304" pitchFamily="18" charset="0"/>
              </a:rPr>
              <a:t> et al. [9] proposed an ML-based system for predicting common diseases using a dataset from the UCI ML repository. They employed CNN and KNN classification techniques, supplemented by patient lifestyle data, to assess disease risk. Comparing CNN and KNN, CNN demonstrated higher accuracy (84.5%) and faster processing time (11.1 seconds). Their findings align with Chen et al. [10], who also found CNN outperformed KNN, NB, and DT due to its ability to detect complex nonlinear relationships and important features. However, the study lacked detailed model parameters and evaluated performance solely based on accuracy, overlooking potential biases and opportunities for feature enhancement. Including more variables could improve underperforming algorithms [11].</a:t>
            </a:r>
            <a:endParaRPr lang="en-IN" sz="2000" dirty="0">
              <a:solidFill>
                <a:schemeClr val="accent4">
                  <a:lumMod val="40000"/>
                  <a:lumOff val="60000"/>
                </a:schemeClr>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242016" y="4339954"/>
            <a:ext cx="11558098" cy="2246769"/>
          </a:xfrm>
          <a:prstGeom prst="rect">
            <a:avLst/>
          </a:prstGeom>
          <a:noFill/>
        </p:spPr>
        <p:txBody>
          <a:bodyPr wrap="square" rtlCol="0">
            <a:spAutoFit/>
          </a:bodyPr>
          <a:lstStyle/>
          <a:p>
            <a:pPr marL="285750" indent="-285750" algn="just">
              <a:buFont typeface="Arial" panose="020B0604020202020204" pitchFamily="34" charset="0"/>
              <a:buChar char="•"/>
            </a:pPr>
            <a:r>
              <a:rPr lang="en-IN" sz="2000" b="1" dirty="0">
                <a:solidFill>
                  <a:schemeClr val="accent4">
                    <a:lumMod val="40000"/>
                    <a:lumOff val="60000"/>
                  </a:schemeClr>
                </a:solidFill>
                <a:latin typeface="Times New Roman" panose="02020603050405020304" pitchFamily="18" charset="0"/>
                <a:cs typeface="Times New Roman" panose="02020603050405020304" pitchFamily="18" charset="0"/>
              </a:rPr>
              <a:t>Parkinson’s Disease</a:t>
            </a:r>
          </a:p>
          <a:p>
            <a:pPr algn="just"/>
            <a:r>
              <a:rPr lang="en-US" sz="2000" dirty="0">
                <a:solidFill>
                  <a:schemeClr val="accent4">
                    <a:lumMod val="40000"/>
                    <a:lumOff val="60000"/>
                  </a:schemeClr>
                </a:solidFill>
                <a:latin typeface="Times New Roman" panose="02020603050405020304" pitchFamily="18" charset="0"/>
                <a:cs typeface="Times New Roman" panose="02020603050405020304" pitchFamily="18" charset="0"/>
              </a:rPr>
              <a:t>Chen et al. [22] developed a diagnosis system for Parkinson's disease (PD) using Fuzzy k-Nearest Neighbor (FKNN) and compared it with SVM. They utilized PCA to select discriminating features for FKNN construction, achieving superior sensitivity, accuracy, and specificity over SVM.</a:t>
            </a:r>
          </a:p>
          <a:p>
            <a:pPr algn="just"/>
            <a:r>
              <a:rPr lang="en-US" sz="2000" dirty="0" err="1">
                <a:solidFill>
                  <a:schemeClr val="accent4">
                    <a:lumMod val="40000"/>
                    <a:lumOff val="60000"/>
                  </a:schemeClr>
                </a:solidFill>
                <a:latin typeface="Times New Roman" panose="02020603050405020304" pitchFamily="18" charset="0"/>
                <a:cs typeface="Times New Roman" panose="02020603050405020304" pitchFamily="18" charset="0"/>
              </a:rPr>
              <a:t>Behroozi</a:t>
            </a:r>
            <a:r>
              <a:rPr lang="en-US" sz="2000" dirty="0">
                <a:solidFill>
                  <a:schemeClr val="accent4">
                    <a:lumMod val="40000"/>
                    <a:lumOff val="60000"/>
                  </a:schemeClr>
                </a:solidFill>
                <a:latin typeface="Times New Roman" panose="02020603050405020304" pitchFamily="18" charset="0"/>
                <a:cs typeface="Times New Roman" panose="02020603050405020304" pitchFamily="18" charset="0"/>
              </a:rPr>
              <a:t> [23] proposed a PD classification framework with enhanced accuracy (up to 15%) through filter-based feature selection. They applied independent classifiers like KNN, SVM, Discriminant Analysis, and NB, with SVM demonstrating the best performance</a:t>
            </a:r>
            <a:r>
              <a:rPr lang="en-US" sz="2000" dirty="0" smtClean="0">
                <a:solidFill>
                  <a:schemeClr val="accent4">
                    <a:lumMod val="40000"/>
                    <a:lumOff val="60000"/>
                  </a:schemeClr>
                </a:solidFill>
                <a:latin typeface="Times New Roman" panose="02020603050405020304" pitchFamily="18" charset="0"/>
                <a:cs typeface="Times New Roman" panose="02020603050405020304" pitchFamily="18" charset="0"/>
              </a:rPr>
              <a:t>.</a:t>
            </a:r>
            <a:endParaRPr lang="en-US" sz="2000" dirty="0">
              <a:solidFill>
                <a:schemeClr val="accent4">
                  <a:lumMod val="40000"/>
                  <a:lumOff val="6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238615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olid navy blue concrete textured wa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01" y="0"/>
            <a:ext cx="12217401" cy="68580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Solid navy blue concrete textured w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9" y="0"/>
            <a:ext cx="12187501"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592428" y="257578"/>
            <a:ext cx="11294772" cy="6001643"/>
          </a:xfrm>
          <a:prstGeom prst="rect">
            <a:avLst/>
          </a:prstGeom>
          <a:noFill/>
        </p:spPr>
        <p:txBody>
          <a:bodyPr wrap="square" rtlCol="0">
            <a:spAutoFit/>
          </a:bodyPr>
          <a:lstStyle/>
          <a:p>
            <a:r>
              <a:rPr lang="en-US" sz="2000" dirty="0" err="1">
                <a:solidFill>
                  <a:schemeClr val="accent4">
                    <a:lumMod val="40000"/>
                    <a:lumOff val="60000"/>
                  </a:schemeClr>
                </a:solidFill>
                <a:latin typeface="Times New Roman" panose="02020603050405020304" pitchFamily="18" charset="0"/>
                <a:cs typeface="Times New Roman" panose="02020603050405020304" pitchFamily="18" charset="0"/>
              </a:rPr>
              <a:t>Eskidere</a:t>
            </a:r>
            <a:r>
              <a:rPr lang="en-US" sz="2000" dirty="0">
                <a:solidFill>
                  <a:schemeClr val="accent4">
                    <a:lumMod val="40000"/>
                    <a:lumOff val="60000"/>
                  </a:schemeClr>
                </a:solidFill>
                <a:latin typeface="Times New Roman" panose="02020603050405020304" pitchFamily="18" charset="0"/>
                <a:cs typeface="Times New Roman" panose="02020603050405020304" pitchFamily="18" charset="0"/>
              </a:rPr>
              <a:t> [24] focused on PD progression tracking, comparing SVM with LS-SVM, GRNN, and MLPNN. LS-SVM emerged as the top-performing model, supported by comprehensive decoder </a:t>
            </a:r>
            <a:r>
              <a:rPr lang="en-US" sz="2000" dirty="0" err="1">
                <a:solidFill>
                  <a:schemeClr val="accent4">
                    <a:lumMod val="40000"/>
                    <a:lumOff val="60000"/>
                  </a:schemeClr>
                </a:solidFill>
                <a:latin typeface="Times New Roman" panose="02020603050405020304" pitchFamily="18" charset="0"/>
                <a:cs typeface="Times New Roman" panose="02020603050405020304" pitchFamily="18" charset="0"/>
              </a:rPr>
              <a:t>comparison.While</a:t>
            </a:r>
            <a:r>
              <a:rPr lang="en-US" sz="2000" dirty="0">
                <a:solidFill>
                  <a:schemeClr val="accent4">
                    <a:lumMod val="40000"/>
                    <a:lumOff val="60000"/>
                  </a:schemeClr>
                </a:solidFill>
                <a:latin typeface="Times New Roman" panose="02020603050405020304" pitchFamily="18" charset="0"/>
                <a:cs typeface="Times New Roman" panose="02020603050405020304" pitchFamily="18" charset="0"/>
              </a:rPr>
              <a:t> the authors provide detailed frameworks, model calibration was lacking. </a:t>
            </a:r>
            <a:r>
              <a:rPr lang="en-US" sz="2000" dirty="0" err="1">
                <a:solidFill>
                  <a:schemeClr val="accent4">
                    <a:lumMod val="40000"/>
                    <a:lumOff val="60000"/>
                  </a:schemeClr>
                </a:solidFill>
                <a:latin typeface="Times New Roman" panose="02020603050405020304" pitchFamily="18" charset="0"/>
                <a:cs typeface="Times New Roman" panose="02020603050405020304" pitchFamily="18" charset="0"/>
              </a:rPr>
              <a:t>Caruana</a:t>
            </a:r>
            <a:r>
              <a:rPr lang="en-US" sz="2000" dirty="0">
                <a:solidFill>
                  <a:schemeClr val="accent4">
                    <a:lumMod val="40000"/>
                    <a:lumOff val="60000"/>
                  </a:schemeClr>
                </a:solidFill>
                <a:latin typeface="Times New Roman" panose="02020603050405020304" pitchFamily="18" charset="0"/>
                <a:cs typeface="Times New Roman" panose="02020603050405020304" pitchFamily="18" charset="0"/>
              </a:rPr>
              <a:t> [26] highlights the importance of calibration to enhance classification performance, especially for models like NB, SVM, and RF</a:t>
            </a:r>
            <a:r>
              <a:rPr lang="en-US" sz="2000" dirty="0" smtClean="0">
                <a:solidFill>
                  <a:schemeClr val="accent4">
                    <a:lumMod val="40000"/>
                    <a:lumOff val="60000"/>
                  </a:schemeClr>
                </a:solidFill>
                <a:latin typeface="Times New Roman" panose="02020603050405020304" pitchFamily="18" charset="0"/>
                <a:cs typeface="Times New Roman" panose="02020603050405020304" pitchFamily="18" charset="0"/>
              </a:rPr>
              <a:t>.</a:t>
            </a:r>
          </a:p>
          <a:p>
            <a:endParaRPr lang="en-IN" sz="2000" dirty="0">
              <a:solidFill>
                <a:schemeClr val="accent4">
                  <a:lumMod val="40000"/>
                  <a:lumOff val="60000"/>
                </a:schemeClr>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b="1" dirty="0" smtClean="0">
                <a:solidFill>
                  <a:schemeClr val="accent4">
                    <a:lumMod val="40000"/>
                    <a:lumOff val="60000"/>
                  </a:schemeClr>
                </a:solidFill>
                <a:latin typeface="Times New Roman" panose="02020603050405020304" pitchFamily="18" charset="0"/>
                <a:cs typeface="Times New Roman" panose="02020603050405020304" pitchFamily="18" charset="0"/>
              </a:rPr>
              <a:t>Heart </a:t>
            </a:r>
            <a:r>
              <a:rPr lang="en-IN" sz="2400" b="1" dirty="0">
                <a:solidFill>
                  <a:schemeClr val="accent4">
                    <a:lumMod val="40000"/>
                    <a:lumOff val="60000"/>
                  </a:schemeClr>
                </a:solidFill>
                <a:latin typeface="Times New Roman" panose="02020603050405020304" pitchFamily="18" charset="0"/>
                <a:cs typeface="Times New Roman" panose="02020603050405020304" pitchFamily="18" charset="0"/>
              </a:rPr>
              <a:t>Diseases</a:t>
            </a:r>
            <a:endParaRPr lang="en-US" sz="2400" b="1" dirty="0">
              <a:solidFill>
                <a:schemeClr val="accent4">
                  <a:lumMod val="40000"/>
                  <a:lumOff val="60000"/>
                </a:schemeClr>
              </a:solidFill>
              <a:latin typeface="Times New Roman" panose="02020603050405020304" pitchFamily="18" charset="0"/>
              <a:cs typeface="Times New Roman" panose="02020603050405020304" pitchFamily="18" charset="0"/>
            </a:endParaRPr>
          </a:p>
          <a:p>
            <a:r>
              <a:rPr lang="en-US" sz="2000" dirty="0" err="1">
                <a:solidFill>
                  <a:schemeClr val="accent4">
                    <a:lumMod val="40000"/>
                    <a:lumOff val="60000"/>
                  </a:schemeClr>
                </a:solidFill>
                <a:latin typeface="Times New Roman" panose="02020603050405020304" pitchFamily="18" charset="0"/>
                <a:cs typeface="Times New Roman" panose="02020603050405020304" pitchFamily="18" charset="0"/>
              </a:rPr>
              <a:t>Marimuthu</a:t>
            </a:r>
            <a:r>
              <a:rPr lang="en-US" sz="2000" dirty="0">
                <a:solidFill>
                  <a:schemeClr val="accent4">
                    <a:lumMod val="40000"/>
                    <a:lumOff val="60000"/>
                  </a:schemeClr>
                </a:solidFill>
                <a:latin typeface="Times New Roman" panose="02020603050405020304" pitchFamily="18" charset="0"/>
                <a:cs typeface="Times New Roman" panose="02020603050405020304" pitchFamily="18" charset="0"/>
              </a:rPr>
              <a:t> et al. [16] conducted research to predict heart diseases using supervised machine learning techniques. They structured the data attributes such as gender, age, chest pain, and others. Employing machine learning algorithms including Decision Trees (DT), K-Nearest Neighbors (KNN), Logistic Regression (LR), and Naive Bayes (NB), they found that LR achieved the highest accuracy rate of 86.89% among all tested algorithms.</a:t>
            </a:r>
          </a:p>
          <a:p>
            <a:endParaRPr lang="en-US" sz="2000" dirty="0">
              <a:solidFill>
                <a:schemeClr val="accent4">
                  <a:lumMod val="40000"/>
                  <a:lumOff val="60000"/>
                </a:schemeClr>
              </a:solidFill>
              <a:latin typeface="Times New Roman" panose="02020603050405020304" pitchFamily="18" charset="0"/>
              <a:cs typeface="Times New Roman" panose="02020603050405020304" pitchFamily="18" charset="0"/>
            </a:endParaRPr>
          </a:p>
          <a:p>
            <a:pPr algn="just"/>
            <a:r>
              <a:rPr lang="en-US" sz="2000" dirty="0">
                <a:solidFill>
                  <a:schemeClr val="accent4">
                    <a:lumMod val="40000"/>
                    <a:lumOff val="60000"/>
                  </a:schemeClr>
                </a:solidFill>
                <a:latin typeface="Times New Roman" panose="02020603050405020304" pitchFamily="18" charset="0"/>
                <a:cs typeface="Times New Roman" panose="02020603050405020304" pitchFamily="18" charset="0"/>
              </a:rPr>
              <a:t>In a similar vein, </a:t>
            </a:r>
            <a:r>
              <a:rPr lang="en-US" sz="2000" dirty="0" err="1">
                <a:solidFill>
                  <a:schemeClr val="accent4">
                    <a:lumMod val="40000"/>
                    <a:lumOff val="60000"/>
                  </a:schemeClr>
                </a:solidFill>
                <a:latin typeface="Times New Roman" panose="02020603050405020304" pitchFamily="18" charset="0"/>
                <a:cs typeface="Times New Roman" panose="02020603050405020304" pitchFamily="18" charset="0"/>
              </a:rPr>
              <a:t>Dwivedi</a:t>
            </a:r>
            <a:r>
              <a:rPr lang="en-US" sz="2000" dirty="0">
                <a:solidFill>
                  <a:schemeClr val="accent4">
                    <a:lumMod val="40000"/>
                    <a:lumOff val="60000"/>
                  </a:schemeClr>
                </a:solidFill>
                <a:latin typeface="Times New Roman" panose="02020603050405020304" pitchFamily="18" charset="0"/>
                <a:cs typeface="Times New Roman" panose="02020603050405020304" pitchFamily="18" charset="0"/>
              </a:rPr>
              <a:t> [17] aimed to improve the precision of heart disease prediction by incorporating additional parameters like Resting blood pressure and Serum Cholesterol. Using a dataset from the UCI Machine Learning repository comprising 120 heart disease-positive and 150 heart disease-negative samples, </a:t>
            </a:r>
            <a:r>
              <a:rPr lang="en-US" sz="2000" dirty="0" err="1">
                <a:solidFill>
                  <a:schemeClr val="accent4">
                    <a:lumMod val="40000"/>
                    <a:lumOff val="60000"/>
                  </a:schemeClr>
                </a:solidFill>
                <a:latin typeface="Times New Roman" panose="02020603050405020304" pitchFamily="18" charset="0"/>
                <a:cs typeface="Times New Roman" panose="02020603050405020304" pitchFamily="18" charset="0"/>
              </a:rPr>
              <a:t>Dwivedi</a:t>
            </a:r>
            <a:r>
              <a:rPr lang="en-US" sz="2000" dirty="0">
                <a:solidFill>
                  <a:schemeClr val="accent4">
                    <a:lumMod val="40000"/>
                    <a:lumOff val="60000"/>
                  </a:schemeClr>
                </a:solidFill>
                <a:latin typeface="Times New Roman" panose="02020603050405020304" pitchFamily="18" charset="0"/>
                <a:cs typeface="Times New Roman" panose="02020603050405020304" pitchFamily="18" charset="0"/>
              </a:rPr>
              <a:t> evaluated the performance of several machine learning algorithms including Artificial Neural Networks (ANN), Support Vector Machines (SVM), KNN, NB, LR, and Classification Trees. Through tenfold cross-validation, the results indicated that LR exhibited the highest classification accuracy and sensitivity, showcasing its reliability in detecting heart diseases.</a:t>
            </a:r>
          </a:p>
        </p:txBody>
      </p:sp>
    </p:spTree>
    <p:extLst>
      <p:ext uri="{BB962C8B-B14F-4D97-AF65-F5344CB8AC3E}">
        <p14:creationId xmlns:p14="http://schemas.microsoft.com/office/powerpoint/2010/main" val="2504152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Solid navy blue concrete textured wa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257" y="0"/>
            <a:ext cx="12187501" cy="6858000"/>
          </a:xfrm>
          <a:prstGeom prst="rect">
            <a:avLst/>
          </a:prstGeom>
          <a:noFill/>
          <a:extLst>
            <a:ext uri="{909E8E84-426E-40DD-AFC4-6F175D3DCCD1}">
              <a14:hiddenFill xmlns:a14="http://schemas.microsoft.com/office/drawing/2010/main">
                <a:solidFill>
                  <a:srgbClr val="FFFFFF"/>
                </a:solidFill>
              </a14:hiddenFill>
            </a:ext>
          </a:extLst>
        </p:spPr>
      </p:pic>
      <p:pic>
        <p:nvPicPr>
          <p:cNvPr id="13314" name="Picture 2" descr="Gradient brain backgroun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7875089" y="0"/>
            <a:ext cx="4316911" cy="3449114"/>
          </a:xfrm>
          <a:prstGeom prst="roundRect">
            <a:avLst>
              <a:gd name="adj" fmla="val 4167"/>
            </a:avLst>
          </a:prstGeom>
          <a:solidFill>
            <a:srgbClr val="FFFFFF"/>
          </a:solidFill>
          <a:ln w="76200" cap="sq">
            <a:no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2" name="TextBox 1"/>
          <p:cNvSpPr txBox="1"/>
          <p:nvPr/>
        </p:nvSpPr>
        <p:spPr>
          <a:xfrm>
            <a:off x="275482" y="822871"/>
            <a:ext cx="8821925" cy="5909310"/>
          </a:xfrm>
          <a:prstGeom prst="rect">
            <a:avLst/>
          </a:prstGeom>
          <a:noFill/>
        </p:spPr>
        <p:txBody>
          <a:bodyPr wrap="square" numCol="1" rtlCol="0">
            <a:spAutoFit/>
          </a:bodyPr>
          <a:lstStyle/>
          <a:p>
            <a:pPr algn="just"/>
            <a:r>
              <a:rPr lang="en-US" dirty="0">
                <a:solidFill>
                  <a:schemeClr val="accent4">
                    <a:lumMod val="20000"/>
                    <a:lumOff val="80000"/>
                  </a:schemeClr>
                </a:solidFill>
                <a:latin typeface="Times New Roman" panose="02020603050405020304" pitchFamily="18" charset="0"/>
                <a:cs typeface="Times New Roman" panose="02020603050405020304" pitchFamily="18" charset="0"/>
              </a:rPr>
              <a:t>1. Data Handling:</a:t>
            </a:r>
          </a:p>
          <a:p>
            <a:pPr algn="just"/>
            <a:r>
              <a:rPr lang="en-US" dirty="0">
                <a:solidFill>
                  <a:schemeClr val="accent4">
                    <a:lumMod val="20000"/>
                    <a:lumOff val="80000"/>
                  </a:schemeClr>
                </a:solidFill>
                <a:latin typeface="Times New Roman" panose="02020603050405020304" pitchFamily="18" charset="0"/>
                <a:cs typeface="Times New Roman" panose="02020603050405020304" pitchFamily="18" charset="0"/>
              </a:rPr>
              <a:t>   - Collect diverse dataset of symptoms and diseases, ensuring quality and avoiding biases.</a:t>
            </a:r>
          </a:p>
          <a:p>
            <a:pPr algn="just"/>
            <a:r>
              <a:rPr lang="en-US" dirty="0">
                <a:solidFill>
                  <a:schemeClr val="accent4">
                    <a:lumMod val="20000"/>
                    <a:lumOff val="80000"/>
                  </a:schemeClr>
                </a:solidFill>
                <a:latin typeface="Times New Roman" panose="02020603050405020304" pitchFamily="18" charset="0"/>
                <a:cs typeface="Times New Roman" panose="02020603050405020304" pitchFamily="18" charset="0"/>
              </a:rPr>
              <a:t>   - Preprocess data by handling missing values, encoding categorical variables, and splitting into training and testing 	sets.</a:t>
            </a:r>
          </a:p>
          <a:p>
            <a:pPr algn="just"/>
            <a:r>
              <a:rPr lang="en-US" dirty="0">
                <a:solidFill>
                  <a:schemeClr val="accent4">
                    <a:lumMod val="20000"/>
                    <a:lumOff val="80000"/>
                  </a:schemeClr>
                </a:solidFill>
                <a:latin typeface="Times New Roman" panose="02020603050405020304" pitchFamily="18" charset="0"/>
                <a:cs typeface="Times New Roman" panose="02020603050405020304" pitchFamily="18" charset="0"/>
              </a:rPr>
              <a:t>2. Model Selection and Training:</a:t>
            </a:r>
          </a:p>
          <a:p>
            <a:pPr algn="just"/>
            <a:r>
              <a:rPr lang="en-US" dirty="0">
                <a:solidFill>
                  <a:schemeClr val="accent4">
                    <a:lumMod val="20000"/>
                    <a:lumOff val="80000"/>
                  </a:schemeClr>
                </a:solidFill>
                <a:latin typeface="Times New Roman" panose="02020603050405020304" pitchFamily="18" charset="0"/>
                <a:cs typeface="Times New Roman" panose="02020603050405020304" pitchFamily="18" charset="0"/>
              </a:rPr>
              <a:t>   - Choose ML algorithms based on interpretability and performance, experimenting with SVM, Naive Bayes, Random Forest, etc.</a:t>
            </a:r>
          </a:p>
          <a:p>
            <a:pPr algn="just"/>
            <a:r>
              <a:rPr lang="en-US" dirty="0">
                <a:solidFill>
                  <a:schemeClr val="accent4">
                    <a:lumMod val="20000"/>
                    <a:lumOff val="80000"/>
                  </a:schemeClr>
                </a:solidFill>
                <a:latin typeface="Times New Roman" panose="02020603050405020304" pitchFamily="18" charset="0"/>
                <a:cs typeface="Times New Roman" panose="02020603050405020304" pitchFamily="18" charset="0"/>
              </a:rPr>
              <a:t>   - Train selected models on training data, optimizing </a:t>
            </a:r>
            <a:r>
              <a:rPr lang="en-US" dirty="0" err="1">
                <a:solidFill>
                  <a:schemeClr val="accent4">
                    <a:lumMod val="20000"/>
                    <a:lumOff val="80000"/>
                  </a:schemeClr>
                </a:solidFill>
                <a:latin typeface="Times New Roman" panose="02020603050405020304" pitchFamily="18" charset="0"/>
                <a:cs typeface="Times New Roman" panose="02020603050405020304" pitchFamily="18" charset="0"/>
              </a:rPr>
              <a:t>hyperparameters</a:t>
            </a:r>
            <a:r>
              <a:rPr lang="en-US" dirty="0">
                <a:solidFill>
                  <a:schemeClr val="accent4">
                    <a:lumMod val="20000"/>
                    <a:lumOff val="80000"/>
                  </a:schemeClr>
                </a:solidFill>
                <a:latin typeface="Times New Roman" panose="02020603050405020304" pitchFamily="18" charset="0"/>
                <a:cs typeface="Times New Roman" panose="02020603050405020304" pitchFamily="18" charset="0"/>
              </a:rPr>
              <a:t> for accuracy.</a:t>
            </a:r>
          </a:p>
          <a:p>
            <a:pPr algn="just"/>
            <a:r>
              <a:rPr lang="en-US" dirty="0">
                <a:solidFill>
                  <a:schemeClr val="accent4">
                    <a:lumMod val="20000"/>
                    <a:lumOff val="80000"/>
                  </a:schemeClr>
                </a:solidFill>
                <a:latin typeface="Times New Roman" panose="02020603050405020304" pitchFamily="18" charset="0"/>
                <a:cs typeface="Times New Roman" panose="02020603050405020304" pitchFamily="18" charset="0"/>
              </a:rPr>
              <a:t>3. Evaluation and Validation:</a:t>
            </a:r>
          </a:p>
          <a:p>
            <a:pPr algn="just"/>
            <a:r>
              <a:rPr lang="en-US" dirty="0">
                <a:solidFill>
                  <a:schemeClr val="accent4">
                    <a:lumMod val="20000"/>
                    <a:lumOff val="80000"/>
                  </a:schemeClr>
                </a:solidFill>
                <a:latin typeface="Times New Roman" panose="02020603050405020304" pitchFamily="18" charset="0"/>
                <a:cs typeface="Times New Roman" panose="02020603050405020304" pitchFamily="18" charset="0"/>
              </a:rPr>
              <a:t>   - Assess model performance using metrics like accuracy and precision, conducting cross validation for robustness.</a:t>
            </a:r>
          </a:p>
          <a:p>
            <a:pPr algn="just"/>
            <a:r>
              <a:rPr lang="en-US" dirty="0">
                <a:solidFill>
                  <a:schemeClr val="accent4">
                    <a:lumMod val="20000"/>
                    <a:lumOff val="80000"/>
                  </a:schemeClr>
                </a:solidFill>
                <a:latin typeface="Times New Roman" panose="02020603050405020304" pitchFamily="18" charset="0"/>
                <a:cs typeface="Times New Roman" panose="02020603050405020304" pitchFamily="18" charset="0"/>
              </a:rPr>
              <a:t>   - Thoroughly test prediction function and user interface, validating predictions with synthetic and real-world 	cases.</a:t>
            </a:r>
          </a:p>
          <a:p>
            <a:pPr algn="just"/>
            <a:r>
              <a:rPr lang="en-US" dirty="0">
                <a:solidFill>
                  <a:schemeClr val="accent4">
                    <a:lumMod val="20000"/>
                    <a:lumOff val="80000"/>
                  </a:schemeClr>
                </a:solidFill>
                <a:latin typeface="Times New Roman" panose="02020603050405020304" pitchFamily="18" charset="0"/>
                <a:cs typeface="Times New Roman" panose="02020603050405020304" pitchFamily="18" charset="0"/>
              </a:rPr>
              <a:t>4. Prediction Function and User Interface:</a:t>
            </a:r>
          </a:p>
          <a:p>
            <a:pPr algn="just"/>
            <a:r>
              <a:rPr lang="en-US" dirty="0">
                <a:solidFill>
                  <a:schemeClr val="accent4">
                    <a:lumMod val="20000"/>
                    <a:lumOff val="80000"/>
                  </a:schemeClr>
                </a:solidFill>
                <a:latin typeface="Times New Roman" panose="02020603050405020304" pitchFamily="18" charset="0"/>
                <a:cs typeface="Times New Roman" panose="02020603050405020304" pitchFamily="18" charset="0"/>
              </a:rPr>
              <a:t>   - Develop modular prediction function for symptom input and disease prediction.</a:t>
            </a:r>
          </a:p>
          <a:p>
            <a:pPr algn="just"/>
            <a:r>
              <a:rPr lang="en-US" dirty="0">
                <a:solidFill>
                  <a:schemeClr val="accent4">
                    <a:lumMod val="20000"/>
                    <a:lumOff val="80000"/>
                  </a:schemeClr>
                </a:solidFill>
                <a:latin typeface="Times New Roman" panose="02020603050405020304" pitchFamily="18" charset="0"/>
                <a:cs typeface="Times New Roman" panose="02020603050405020304" pitchFamily="18" charset="0"/>
              </a:rPr>
              <a:t>   - Design user-friendly interface for symptom input, integrating prediction function for clear  	disease predictions, and incorporating error handling and feedback features.</a:t>
            </a:r>
          </a:p>
          <a:p>
            <a:pPr algn="just"/>
            <a:r>
              <a:rPr lang="en-US" dirty="0">
                <a:solidFill>
                  <a:schemeClr val="accent4">
                    <a:lumMod val="20000"/>
                    <a:lumOff val="80000"/>
                  </a:schemeClr>
                </a:solidFill>
                <a:latin typeface="Times New Roman" panose="02020603050405020304" pitchFamily="18" charset="0"/>
                <a:cs typeface="Times New Roman" panose="02020603050405020304" pitchFamily="18" charset="0"/>
              </a:rPr>
              <a:t>5. Deployment and Maintenance:</a:t>
            </a:r>
          </a:p>
          <a:p>
            <a:pPr algn="just"/>
            <a:r>
              <a:rPr lang="en-US" dirty="0">
                <a:solidFill>
                  <a:schemeClr val="accent4">
                    <a:lumMod val="20000"/>
                    <a:lumOff val="80000"/>
                  </a:schemeClr>
                </a:solidFill>
                <a:latin typeface="Times New Roman" panose="02020603050405020304" pitchFamily="18" charset="0"/>
                <a:cs typeface="Times New Roman" panose="02020603050405020304" pitchFamily="18" charset="0"/>
              </a:rPr>
              <a:t>   - Deploy system with focus on scalability, reliability, and security.</a:t>
            </a:r>
          </a:p>
          <a:p>
            <a:pPr algn="just"/>
            <a:r>
              <a:rPr lang="en-US" dirty="0">
                <a:solidFill>
                  <a:schemeClr val="accent4">
                    <a:lumMod val="20000"/>
                    <a:lumOff val="80000"/>
                  </a:schemeClr>
                </a:solidFill>
                <a:latin typeface="Times New Roman" panose="02020603050405020304" pitchFamily="18" charset="0"/>
                <a:cs typeface="Times New Roman" panose="02020603050405020304" pitchFamily="18" charset="0"/>
              </a:rPr>
              <a:t>   - Monitor performance and gather user feedback for iterative improvements.</a:t>
            </a:r>
          </a:p>
          <a:p>
            <a:pPr algn="just"/>
            <a:r>
              <a:rPr lang="en-US" dirty="0">
                <a:solidFill>
                  <a:schemeClr val="accent4">
                    <a:lumMod val="20000"/>
                    <a:lumOff val="80000"/>
                  </a:schemeClr>
                </a:solidFill>
                <a:latin typeface="Times New Roman" panose="02020603050405020304" pitchFamily="18" charset="0"/>
                <a:cs typeface="Times New Roman" panose="02020603050405020304" pitchFamily="18" charset="0"/>
              </a:rPr>
              <a:t>   - Provide documentation, support, and regular maintenance to ensure long-term usability.</a:t>
            </a:r>
            <a:endParaRPr lang="en-IN" dirty="0">
              <a:solidFill>
                <a:schemeClr val="accent4">
                  <a:lumMod val="20000"/>
                  <a:lumOff val="80000"/>
                </a:schemeClr>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373589" y="96887"/>
            <a:ext cx="4312855" cy="1200329"/>
          </a:xfrm>
          <a:prstGeom prst="rect">
            <a:avLst/>
          </a:prstGeom>
          <a:noFill/>
        </p:spPr>
        <p:txBody>
          <a:bodyPr wrap="square" rtlCol="0">
            <a:spAutoFit/>
          </a:bodyPr>
          <a:lstStyle/>
          <a:p>
            <a:r>
              <a:rPr lang="en-US" sz="3600" b="1" u="sng" dirty="0" smtClean="0">
                <a:solidFill>
                  <a:schemeClr val="accent4">
                    <a:lumMod val="40000"/>
                    <a:lumOff val="60000"/>
                  </a:schemeClr>
                </a:solidFill>
                <a:latin typeface="Times New Roman" panose="02020603050405020304" pitchFamily="18" charset="0"/>
                <a:cs typeface="Times New Roman" panose="02020603050405020304" pitchFamily="18" charset="0"/>
              </a:rPr>
              <a:t>Design</a:t>
            </a:r>
            <a:endParaRPr lang="en-US" sz="3600" b="1" u="sng" dirty="0">
              <a:solidFill>
                <a:schemeClr val="accent4">
                  <a:lumMod val="40000"/>
                  <a:lumOff val="60000"/>
                </a:schemeClr>
              </a:solidFill>
              <a:latin typeface="Times New Roman" panose="02020603050405020304" pitchFamily="18" charset="0"/>
              <a:cs typeface="Times New Roman" panose="02020603050405020304" pitchFamily="18" charset="0"/>
            </a:endParaRPr>
          </a:p>
          <a:p>
            <a:endParaRPr lang="en-IN" sz="3600" b="1" u="sng" dirty="0">
              <a:solidFill>
                <a:schemeClr val="bg1"/>
              </a:solidFill>
            </a:endParaRPr>
          </a:p>
        </p:txBody>
      </p:sp>
    </p:spTree>
    <p:extLst>
      <p:ext uri="{BB962C8B-B14F-4D97-AF65-F5344CB8AC3E}">
        <p14:creationId xmlns:p14="http://schemas.microsoft.com/office/powerpoint/2010/main" val="9594028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Solid navy blue concrete textured wa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01" y="0"/>
            <a:ext cx="12217401" cy="68580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p:cNvPicPr>
            <a:picLocks noChangeAspect="1"/>
          </p:cNvPicPr>
          <p:nvPr/>
        </p:nvPicPr>
        <p:blipFill>
          <a:blip r:embed="rId3"/>
          <a:stretch>
            <a:fillRect/>
          </a:stretch>
        </p:blipFill>
        <p:spPr>
          <a:xfrm>
            <a:off x="675967" y="228600"/>
            <a:ext cx="10840065" cy="6235700"/>
          </a:xfrm>
          <a:prstGeom prst="rect">
            <a:avLst/>
          </a:prstGeom>
        </p:spPr>
      </p:pic>
    </p:spTree>
    <p:extLst>
      <p:ext uri="{BB962C8B-B14F-4D97-AF65-F5344CB8AC3E}">
        <p14:creationId xmlns:p14="http://schemas.microsoft.com/office/powerpoint/2010/main" val="39133539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Solid navy blue concrete textured wa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01" y="0"/>
            <a:ext cx="12217401"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xmlns="" id="{0C6E0845-ACB7-2CFE-2FE5-FA3E7F86C42F}"/>
              </a:ext>
            </a:extLst>
          </p:cNvPr>
          <p:cNvSpPr>
            <a:spLocks noGrp="1"/>
          </p:cNvSpPr>
          <p:nvPr>
            <p:ph type="title" idx="4294967295"/>
          </p:nvPr>
        </p:nvSpPr>
        <p:spPr>
          <a:xfrm>
            <a:off x="0" y="147638"/>
            <a:ext cx="11160125" cy="996950"/>
          </a:xfrm>
        </p:spPr>
        <p:txBody>
          <a:bodyPr>
            <a:noAutofit/>
          </a:bodyPr>
          <a:lstStyle/>
          <a:p>
            <a:r>
              <a:rPr lang="en-IN" sz="3600" dirty="0">
                <a:solidFill>
                  <a:schemeClr val="accent4">
                    <a:lumMod val="40000"/>
                    <a:lumOff val="60000"/>
                  </a:schemeClr>
                </a:solidFill>
              </a:rPr>
              <a:t>Flowchart-Modelling using SVC, Naive Bayes, random forest</a:t>
            </a:r>
          </a:p>
        </p:txBody>
      </p:sp>
      <p:pic>
        <p:nvPicPr>
          <p:cNvPr id="9" name="Content Placeholder 8">
            <a:extLst>
              <a:ext uri="{FF2B5EF4-FFF2-40B4-BE49-F238E27FC236}">
                <a16:creationId xmlns:a16="http://schemas.microsoft.com/office/drawing/2014/main" xmlns="" id="{5AAA2B28-0C76-413E-F45B-9AD3E8023B64}"/>
              </a:ext>
            </a:extLst>
          </p:cNvPr>
          <p:cNvPicPr>
            <a:picLocks noGrp="1" noChangeAspect="1"/>
          </p:cNvPicPr>
          <p:nvPr>
            <p:ph idx="4294967295"/>
          </p:nvPr>
        </p:nvPicPr>
        <p:blipFill>
          <a:blip r:embed="rId3">
            <a:extLst>
              <a:ext uri="{28A0092B-C50C-407E-A947-70E740481C1C}">
                <a14:useLocalDpi xmlns:a14="http://schemas.microsoft.com/office/drawing/2010/main" val="0"/>
              </a:ext>
            </a:extLst>
          </a:blip>
          <a:stretch>
            <a:fillRect/>
          </a:stretch>
        </p:blipFill>
        <p:spPr>
          <a:xfrm>
            <a:off x="487363" y="1144588"/>
            <a:ext cx="11188700" cy="521970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20901870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Solid navy blue concrete textured wa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01" y="0"/>
            <a:ext cx="12217401" cy="68580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Solid navy blue concrete textured w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9" y="0"/>
            <a:ext cx="12187501"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xmlns="" id="{2310CCCB-F1BE-CD14-F1A5-020112CADEAB}"/>
              </a:ext>
            </a:extLst>
          </p:cNvPr>
          <p:cNvSpPr>
            <a:spLocks noGrp="1"/>
          </p:cNvSpPr>
          <p:nvPr>
            <p:ph type="title" idx="4294967295"/>
          </p:nvPr>
        </p:nvSpPr>
        <p:spPr>
          <a:xfrm>
            <a:off x="211136" y="148063"/>
            <a:ext cx="11417300" cy="803275"/>
          </a:xfrm>
        </p:spPr>
        <p:txBody>
          <a:bodyPr/>
          <a:lstStyle/>
          <a:p>
            <a:r>
              <a:rPr lang="en-IN" dirty="0">
                <a:solidFill>
                  <a:schemeClr val="accent4">
                    <a:lumMod val="20000"/>
                    <a:lumOff val="80000"/>
                  </a:schemeClr>
                </a:solidFill>
                <a:latin typeface="Times New Roman" panose="02020603050405020304" pitchFamily="18" charset="0"/>
                <a:cs typeface="Times New Roman" panose="02020603050405020304" pitchFamily="18" charset="0"/>
              </a:rPr>
              <a:t> Methodology</a:t>
            </a:r>
          </a:p>
        </p:txBody>
      </p:sp>
      <p:sp>
        <p:nvSpPr>
          <p:cNvPr id="3" name="Content Placeholder 2">
            <a:extLst>
              <a:ext uri="{FF2B5EF4-FFF2-40B4-BE49-F238E27FC236}">
                <a16:creationId xmlns:a16="http://schemas.microsoft.com/office/drawing/2014/main" xmlns="" id="{DB4F803A-B3BF-F69D-C947-24F82245290C}"/>
              </a:ext>
            </a:extLst>
          </p:cNvPr>
          <p:cNvSpPr>
            <a:spLocks noGrp="1"/>
          </p:cNvSpPr>
          <p:nvPr>
            <p:ph idx="4294967295"/>
          </p:nvPr>
        </p:nvSpPr>
        <p:spPr>
          <a:xfrm>
            <a:off x="211136" y="1099401"/>
            <a:ext cx="11744325" cy="5126037"/>
          </a:xfrm>
        </p:spPr>
        <p:txBody>
          <a:bodyPr>
            <a:normAutofit fontScale="85000" lnSpcReduction="20000"/>
          </a:bodyPr>
          <a:lstStyle/>
          <a:p>
            <a:pPr algn="just"/>
            <a:r>
              <a:rPr lang="en-US" dirty="0">
                <a:solidFill>
                  <a:schemeClr val="accent4">
                    <a:lumMod val="20000"/>
                    <a:lumOff val="80000"/>
                  </a:schemeClr>
                </a:solidFill>
                <a:latin typeface="Times New Roman" panose="02020603050405020304" pitchFamily="18" charset="0"/>
                <a:cs typeface="Times New Roman" panose="02020603050405020304" pitchFamily="18" charset="0"/>
              </a:rPr>
              <a:t>1. Data Exploration: Perform exploratory data analysis (EDA) to understand the distribution and relationships between symptoms and diseases. Visualize data using techniques such as histograms, scatter plots, and correlation matrices to gain insights into the dataset.</a:t>
            </a:r>
          </a:p>
          <a:p>
            <a:pPr algn="just"/>
            <a:r>
              <a:rPr lang="en-US" dirty="0">
                <a:solidFill>
                  <a:schemeClr val="accent4">
                    <a:lumMod val="20000"/>
                    <a:lumOff val="80000"/>
                  </a:schemeClr>
                </a:solidFill>
                <a:latin typeface="Times New Roman" panose="02020603050405020304" pitchFamily="18" charset="0"/>
                <a:cs typeface="Times New Roman" panose="02020603050405020304" pitchFamily="18" charset="0"/>
              </a:rPr>
              <a:t>2. Preprocessing: Clean the dataset by handling missing values and outliers appropriately. Standardize or normalize numerical features to ensure consistency across different scales. Split the dataset into training and testing sets using stratified sampling to maintain class distribution.</a:t>
            </a:r>
          </a:p>
          <a:p>
            <a:pPr algn="just"/>
            <a:r>
              <a:rPr lang="en-US" dirty="0">
                <a:solidFill>
                  <a:schemeClr val="accent4">
                    <a:lumMod val="20000"/>
                    <a:lumOff val="80000"/>
                  </a:schemeClr>
                </a:solidFill>
                <a:latin typeface="Times New Roman" panose="02020603050405020304" pitchFamily="18" charset="0"/>
                <a:cs typeface="Times New Roman" panose="02020603050405020304" pitchFamily="18" charset="0"/>
              </a:rPr>
              <a:t>3. Model Training and Evaluation: Train multiple machine learning models using the training dataset. Evaluate each model's performance using cross-validation techniques and metrics like accuracy, precision, recall, and F1-score.Compare the results to identify the best-performing model(s) for further analysis.</a:t>
            </a:r>
          </a:p>
          <a:p>
            <a:pPr algn="just"/>
            <a:r>
              <a:rPr lang="en-US" dirty="0">
                <a:solidFill>
                  <a:schemeClr val="accent4">
                    <a:lumMod val="20000"/>
                    <a:lumOff val="80000"/>
                  </a:schemeClr>
                </a:solidFill>
                <a:latin typeface="Times New Roman" panose="02020603050405020304" pitchFamily="18" charset="0"/>
                <a:cs typeface="Times New Roman" panose="02020603050405020304" pitchFamily="18" charset="0"/>
              </a:rPr>
              <a:t>4. Hyperparameter Tuning: Fine-tune hyperparameters for selected models using techniques like grid search or random search. Optimize model parameters to improve performance and generalizability.</a:t>
            </a:r>
          </a:p>
          <a:p>
            <a:pPr algn="just"/>
            <a:r>
              <a:rPr lang="en-US" dirty="0">
                <a:solidFill>
                  <a:schemeClr val="accent4">
                    <a:lumMod val="20000"/>
                    <a:lumOff val="80000"/>
                  </a:schemeClr>
                </a:solidFill>
                <a:latin typeface="Times New Roman" panose="02020603050405020304" pitchFamily="18" charset="0"/>
                <a:cs typeface="Times New Roman" panose="02020603050405020304" pitchFamily="18" charset="0"/>
              </a:rPr>
              <a:t>5. Prediction Function Development: Develop a function to preprocess input symptoms, make predictions using trained models, and return disease predictions. Test the function with sample inputs to ensure correctness and reliability.</a:t>
            </a:r>
          </a:p>
        </p:txBody>
      </p:sp>
    </p:spTree>
    <p:extLst>
      <p:ext uri="{BB962C8B-B14F-4D97-AF65-F5344CB8AC3E}">
        <p14:creationId xmlns:p14="http://schemas.microsoft.com/office/powerpoint/2010/main" val="25323367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Solid navy blue concrete textured wa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01" y="0"/>
            <a:ext cx="12217401" cy="68580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Solid navy blue concrete textured w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9" y="0"/>
            <a:ext cx="12187501"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xmlns="" id="{AEA11C26-3730-1195-0DE5-8B1203790AC6}"/>
              </a:ext>
            </a:extLst>
          </p:cNvPr>
          <p:cNvSpPr>
            <a:spLocks noGrp="1"/>
          </p:cNvSpPr>
          <p:nvPr>
            <p:ph type="title"/>
          </p:nvPr>
        </p:nvSpPr>
        <p:spPr/>
        <p:txBody>
          <a:bodyPr/>
          <a:lstStyle/>
          <a:p>
            <a:r>
              <a:rPr lang="en-IN" dirty="0">
                <a:solidFill>
                  <a:schemeClr val="accent4">
                    <a:lumMod val="20000"/>
                    <a:lumOff val="80000"/>
                  </a:schemeClr>
                </a:solidFill>
                <a:latin typeface="Times New Roman" panose="02020603050405020304" pitchFamily="18" charset="0"/>
                <a:cs typeface="Times New Roman" panose="02020603050405020304" pitchFamily="18" charset="0"/>
              </a:rPr>
              <a:t>Result</a:t>
            </a:r>
          </a:p>
        </p:txBody>
      </p:sp>
      <p:sp>
        <p:nvSpPr>
          <p:cNvPr id="3" name="Content Placeholder 2">
            <a:extLst>
              <a:ext uri="{FF2B5EF4-FFF2-40B4-BE49-F238E27FC236}">
                <a16:creationId xmlns:a16="http://schemas.microsoft.com/office/drawing/2014/main" xmlns="" id="{B9A6613A-466F-7CC5-E198-44BBF0169976}"/>
              </a:ext>
            </a:extLst>
          </p:cNvPr>
          <p:cNvSpPr>
            <a:spLocks noGrp="1"/>
          </p:cNvSpPr>
          <p:nvPr>
            <p:ph idx="1"/>
          </p:nvPr>
        </p:nvSpPr>
        <p:spPr/>
        <p:txBody>
          <a:bodyPr>
            <a:normAutofit fontScale="92500" lnSpcReduction="10000"/>
          </a:bodyPr>
          <a:lstStyle/>
          <a:p>
            <a:r>
              <a:rPr lang="en-US" sz="2000" dirty="0">
                <a:solidFill>
                  <a:schemeClr val="accent4">
                    <a:lumMod val="20000"/>
                    <a:lumOff val="80000"/>
                  </a:schemeClr>
                </a:solidFill>
                <a:latin typeface="Times New Roman" panose="02020603050405020304" pitchFamily="18" charset="0"/>
                <a:cs typeface="Times New Roman" panose="02020603050405020304" pitchFamily="18" charset="0"/>
              </a:rPr>
              <a:t>Different machine learning models were used to examine the prediction of disease for available input dataset</a:t>
            </a:r>
          </a:p>
          <a:p>
            <a:r>
              <a:rPr lang="en-US" sz="2000" dirty="0">
                <a:solidFill>
                  <a:schemeClr val="accent4">
                    <a:lumMod val="20000"/>
                    <a:lumOff val="80000"/>
                  </a:schemeClr>
                </a:solidFill>
                <a:latin typeface="Times New Roman" panose="02020603050405020304" pitchFamily="18" charset="0"/>
                <a:cs typeface="Times New Roman" panose="02020603050405020304" pitchFamily="18" charset="0"/>
              </a:rPr>
              <a:t>By leveraging Naive Bayes, SVM,  Random Forest ,CNN and other algorithms on a comprehensive dataset encompassing over 41 diseases, our project aims to revolutionize disease diagnosis. </a:t>
            </a:r>
          </a:p>
          <a:p>
            <a:r>
              <a:rPr lang="en-US" sz="2000" dirty="0">
                <a:solidFill>
                  <a:schemeClr val="accent4">
                    <a:lumMod val="20000"/>
                    <a:lumOff val="80000"/>
                  </a:schemeClr>
                </a:solidFill>
                <a:latin typeface="Times New Roman" panose="02020603050405020304" pitchFamily="18" charset="0"/>
                <a:cs typeface="Times New Roman" panose="02020603050405020304" pitchFamily="18" charset="0"/>
              </a:rPr>
              <a:t>Our system, designed to analyze symptoms, age, and gender, provides accurate and timely predictions, acting as a virtual doctor for early disease detection and also addresses challenges in healthcare access, particularly in remote areas.</a:t>
            </a:r>
          </a:p>
          <a:p>
            <a:r>
              <a:rPr lang="en-US" sz="2000" dirty="0">
                <a:solidFill>
                  <a:schemeClr val="accent4">
                    <a:lumMod val="20000"/>
                    <a:lumOff val="80000"/>
                  </a:schemeClr>
                </a:solidFill>
                <a:latin typeface="Times New Roman" panose="02020603050405020304" pitchFamily="18" charset="0"/>
                <a:cs typeface="Times New Roman" panose="02020603050405020304" pitchFamily="18" charset="0"/>
              </a:rPr>
              <a:t>The rigorous process of data handling, including collecting diverse datasets of symptoms and diseases while ensuring quality and avoiding biases, sets a solid foundation for our predictive model. </a:t>
            </a:r>
          </a:p>
          <a:p>
            <a:r>
              <a:rPr lang="en-US" sz="2000" dirty="0">
                <a:solidFill>
                  <a:schemeClr val="accent4">
                    <a:lumMod val="20000"/>
                    <a:lumOff val="80000"/>
                  </a:schemeClr>
                </a:solidFill>
                <a:latin typeface="Times New Roman" panose="02020603050405020304" pitchFamily="18" charset="0"/>
                <a:cs typeface="Times New Roman" panose="02020603050405020304" pitchFamily="18" charset="0"/>
              </a:rPr>
              <a:t>Through meticulous preprocessing techniques such as handling missing values, encoding categorical variables, and splitting data into training and testing sets, we ensure the reliability and accuracy of our predictions.</a:t>
            </a:r>
          </a:p>
          <a:p>
            <a:r>
              <a:rPr lang="en-US" sz="2000" dirty="0">
                <a:solidFill>
                  <a:schemeClr val="accent4">
                    <a:lumMod val="20000"/>
                    <a:lumOff val="80000"/>
                  </a:schemeClr>
                </a:solidFill>
                <a:latin typeface="Times New Roman" panose="02020603050405020304" pitchFamily="18" charset="0"/>
                <a:cs typeface="Times New Roman" panose="02020603050405020304" pitchFamily="18" charset="0"/>
              </a:rPr>
              <a:t>In the current situation, doctors and medical professionals are always needed in emergencies. Given the challenges posed by COVID-19, where resources may be limited, our prediction system proves to be helpful and can be used for disease diagnosis.</a:t>
            </a:r>
          </a:p>
        </p:txBody>
      </p:sp>
    </p:spTree>
    <p:extLst>
      <p:ext uri="{BB962C8B-B14F-4D97-AF65-F5344CB8AC3E}">
        <p14:creationId xmlns:p14="http://schemas.microsoft.com/office/powerpoint/2010/main" val="15048899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Solid navy blue concrete textured wa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01" y="0"/>
            <a:ext cx="12217401" cy="68580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Solid navy blue concrete textured w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9" y="0"/>
            <a:ext cx="12187501"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xmlns="" id="{64EC9EC9-3367-E8E6-0F5C-D2C5CAC3BDF7}"/>
              </a:ext>
            </a:extLst>
          </p:cNvPr>
          <p:cNvSpPr>
            <a:spLocks noGrp="1"/>
          </p:cNvSpPr>
          <p:nvPr>
            <p:ph type="title"/>
          </p:nvPr>
        </p:nvSpPr>
        <p:spPr/>
        <p:txBody>
          <a:bodyPr/>
          <a:lstStyle/>
          <a:p>
            <a:r>
              <a:rPr lang="en-IN" u="sng" dirty="0">
                <a:solidFill>
                  <a:schemeClr val="accent4">
                    <a:lumMod val="20000"/>
                    <a:lumOff val="80000"/>
                  </a:schemeClr>
                </a:solidFill>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xmlns="" id="{0872E97F-B00C-E247-17EC-01485A76DEAD}"/>
              </a:ext>
            </a:extLst>
          </p:cNvPr>
          <p:cNvSpPr>
            <a:spLocks noGrp="1"/>
          </p:cNvSpPr>
          <p:nvPr>
            <p:ph idx="1"/>
          </p:nvPr>
        </p:nvSpPr>
        <p:spPr/>
        <p:txBody>
          <a:bodyPr>
            <a:normAutofit/>
          </a:bodyPr>
          <a:lstStyle/>
          <a:p>
            <a:pPr algn="just"/>
            <a:r>
              <a:rPr lang="en-US" sz="2400" dirty="0">
                <a:solidFill>
                  <a:schemeClr val="accent4">
                    <a:lumMod val="20000"/>
                    <a:lumOff val="80000"/>
                  </a:schemeClr>
                </a:solidFill>
                <a:latin typeface="Times New Roman" panose="02020603050405020304" pitchFamily="18" charset="0"/>
                <a:cs typeface="Times New Roman" panose="02020603050405020304" pitchFamily="18" charset="0"/>
              </a:rPr>
              <a:t>The manuscript presented the technique of predicting the disease based on the symptoms, age, and gender of an individual patient. The Weighted KNN model gave the highest accuracy of 93.5 % for the prediction of diseases using the above-mentioned factors. Almost all the ML models gave good accuracy values. As some models were dependent on the parameters, they couldn’t predict the disease and the accuracy percentage was quite low. Once the disease is predicted, we could easily manage the medicine resources required for the treatment. This model would help in lowering the cost required in dealing with the disease and would also improve the recovery process. </a:t>
            </a:r>
            <a:endParaRPr lang="en-IN" sz="2400" dirty="0">
              <a:solidFill>
                <a:schemeClr val="accent4">
                  <a:lumMod val="20000"/>
                  <a:lumOff val="8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48928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Solid navy blue concrete textured wa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01" y="0"/>
            <a:ext cx="12217401" cy="68580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Solid navy blue concrete textured w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01" y="0"/>
            <a:ext cx="12187501"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idx="1"/>
          </p:nvPr>
        </p:nvSpPr>
        <p:spPr>
          <a:xfrm>
            <a:off x="452401" y="904786"/>
            <a:ext cx="10991046" cy="5953214"/>
          </a:xfrm>
        </p:spPr>
        <p:txBody>
          <a:bodyPr>
            <a:noAutofit/>
          </a:bodyPr>
          <a:lstStyle/>
          <a:p>
            <a:pPr algn="just"/>
            <a:r>
              <a:rPr lang="en-US" sz="2000" dirty="0">
                <a:solidFill>
                  <a:schemeClr val="accent4">
                    <a:lumMod val="20000"/>
                    <a:lumOff val="80000"/>
                  </a:schemeClr>
                </a:solidFill>
                <a:latin typeface="Times New Roman" panose="02020603050405020304" pitchFamily="18" charset="0"/>
                <a:cs typeface="Times New Roman" panose="02020603050405020304" pitchFamily="18" charset="0"/>
              </a:rPr>
              <a:t>The use of different ML algorithms enabled the early detection of many maladies such as heart, kidney, breast, and brain diseases. Throughout the literature, SVM, RF and LR algorithms were the most widely used at prediction, while accuracy was the most used performance metric. The CNN model proved to be the most adequate at predicting common diseases. Furthermore, SVM model showed superiority in accuracy at most times for kidney diseases and PD because of its reliability in handling high-dimensional, semi-structured and unstructured data. For Breast cancer prediction, RF showed more superiority in the probability of correct classification of the diseases because of its ability to scale well for large datasets and its susceptibility to avoid overfitting. Finally, the LR algorithm proved to be the most reliable in predicting heart diseases. In future work, the creation of more complex ML algorithms is much needed to increase the efficiency of disease prediction. In addition, learning models should be calibrated more often after the training phase for potentially a better performance. Moreover, datasets should be expanded on different demographics to avoid overfitting and increase the accuracy of the deployed models. Finally, more relevant feature selection methods should be used to enhance the performance of the learning models.</a:t>
            </a:r>
            <a:endParaRPr lang="en-IN" sz="2000" dirty="0">
              <a:solidFill>
                <a:schemeClr val="accent4">
                  <a:lumMod val="20000"/>
                  <a:lumOff val="8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73156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Solid navy blue concrete textured wa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01" y="0"/>
            <a:ext cx="12217401" cy="68580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Solid navy blue concrete textured w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9" y="0"/>
            <a:ext cx="12187501"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484031" y="182563"/>
            <a:ext cx="2639096" cy="652306"/>
          </a:xfrm>
        </p:spPr>
        <p:txBody>
          <a:bodyPr>
            <a:normAutofit fontScale="90000"/>
          </a:bodyPr>
          <a:lstStyle/>
          <a:p>
            <a:r>
              <a:rPr lang="en-US" dirty="0">
                <a:solidFill>
                  <a:schemeClr val="accent4">
                    <a:lumMod val="40000"/>
                    <a:lumOff val="60000"/>
                  </a:schemeClr>
                </a:solidFill>
                <a:latin typeface="Times New Roman" panose="02020603050405020304" pitchFamily="18" charset="0"/>
                <a:cs typeface="Times New Roman" panose="02020603050405020304" pitchFamily="18" charset="0"/>
              </a:rPr>
              <a:t>Reference:</a:t>
            </a:r>
            <a:endParaRPr lang="en-IN" dirty="0">
              <a:solidFill>
                <a:schemeClr val="accent4">
                  <a:lumMod val="40000"/>
                  <a:lumOff val="60000"/>
                </a:schemeClr>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484031" y="1017432"/>
            <a:ext cx="10856890" cy="5355312"/>
          </a:xfrm>
          <a:prstGeom prst="rect">
            <a:avLst/>
          </a:prstGeom>
          <a:noFill/>
        </p:spPr>
        <p:txBody>
          <a:bodyPr wrap="square" rtlCol="0">
            <a:spAutoFit/>
          </a:bodyPr>
          <a:lstStyle/>
          <a:p>
            <a:pPr algn="just"/>
            <a:r>
              <a:rPr lang="en-US" dirty="0">
                <a:solidFill>
                  <a:schemeClr val="accent4">
                    <a:lumMod val="20000"/>
                    <a:lumOff val="80000"/>
                  </a:schemeClr>
                </a:solidFill>
                <a:latin typeface="Times New Roman" panose="02020603050405020304" pitchFamily="18" charset="0"/>
                <a:cs typeface="Times New Roman" panose="02020603050405020304" pitchFamily="18" charset="0"/>
              </a:rPr>
              <a:t>9.D. </a:t>
            </a:r>
            <a:r>
              <a:rPr lang="en-US" dirty="0" err="1">
                <a:solidFill>
                  <a:schemeClr val="accent4">
                    <a:lumMod val="20000"/>
                    <a:lumOff val="80000"/>
                  </a:schemeClr>
                </a:solidFill>
                <a:latin typeface="Times New Roman" panose="02020603050405020304" pitchFamily="18" charset="0"/>
                <a:cs typeface="Times New Roman" panose="02020603050405020304" pitchFamily="18" charset="0"/>
              </a:rPr>
              <a:t>Dahiwade</a:t>
            </a:r>
            <a:r>
              <a:rPr lang="en-US" dirty="0">
                <a:solidFill>
                  <a:schemeClr val="accent4">
                    <a:lumMod val="20000"/>
                    <a:lumOff val="80000"/>
                  </a:schemeClr>
                </a:solidFill>
                <a:latin typeface="Times New Roman" panose="02020603050405020304" pitchFamily="18" charset="0"/>
                <a:cs typeface="Times New Roman" panose="02020603050405020304" pitchFamily="18" charset="0"/>
              </a:rPr>
              <a:t>, G. </a:t>
            </a:r>
            <a:r>
              <a:rPr lang="en-US" dirty="0" err="1">
                <a:solidFill>
                  <a:schemeClr val="accent4">
                    <a:lumMod val="20000"/>
                    <a:lumOff val="80000"/>
                  </a:schemeClr>
                </a:solidFill>
                <a:latin typeface="Times New Roman" panose="02020603050405020304" pitchFamily="18" charset="0"/>
                <a:cs typeface="Times New Roman" panose="02020603050405020304" pitchFamily="18" charset="0"/>
              </a:rPr>
              <a:t>Patle</a:t>
            </a:r>
            <a:r>
              <a:rPr lang="en-US" dirty="0">
                <a:solidFill>
                  <a:schemeClr val="accent4">
                    <a:lumMod val="20000"/>
                    <a:lumOff val="80000"/>
                  </a:schemeClr>
                </a:solidFill>
                <a:latin typeface="Times New Roman" panose="02020603050405020304" pitchFamily="18" charset="0"/>
                <a:cs typeface="Times New Roman" panose="02020603050405020304" pitchFamily="18" charset="0"/>
              </a:rPr>
              <a:t>, and E. </a:t>
            </a:r>
            <a:r>
              <a:rPr lang="en-US" dirty="0" err="1">
                <a:solidFill>
                  <a:schemeClr val="accent4">
                    <a:lumMod val="20000"/>
                    <a:lumOff val="80000"/>
                  </a:schemeClr>
                </a:solidFill>
                <a:latin typeface="Times New Roman" panose="02020603050405020304" pitchFamily="18" charset="0"/>
                <a:cs typeface="Times New Roman" panose="02020603050405020304" pitchFamily="18" charset="0"/>
              </a:rPr>
              <a:t>Meshram</a:t>
            </a:r>
            <a:r>
              <a:rPr lang="en-US" dirty="0">
                <a:solidFill>
                  <a:schemeClr val="accent4">
                    <a:lumMod val="20000"/>
                    <a:lumOff val="80000"/>
                  </a:schemeClr>
                </a:solidFill>
                <a:latin typeface="Times New Roman" panose="02020603050405020304" pitchFamily="18" charset="0"/>
                <a:cs typeface="Times New Roman" panose="02020603050405020304" pitchFamily="18" charset="0"/>
              </a:rPr>
              <a:t>, “Designing disease prediction model using machine learning approach,” </a:t>
            </a:r>
            <a:r>
              <a:rPr lang="en-US" i="1" dirty="0">
                <a:solidFill>
                  <a:schemeClr val="accent4">
                    <a:lumMod val="20000"/>
                    <a:lumOff val="80000"/>
                  </a:schemeClr>
                </a:solidFill>
                <a:latin typeface="Times New Roman" panose="02020603050405020304" pitchFamily="18" charset="0"/>
                <a:cs typeface="Times New Roman" panose="02020603050405020304" pitchFamily="18" charset="0"/>
              </a:rPr>
              <a:t>Proceedings of the 3rd International Conference on Computing Methodologies and Communication</a:t>
            </a:r>
            <a:r>
              <a:rPr lang="en-US" dirty="0">
                <a:solidFill>
                  <a:schemeClr val="accent4">
                    <a:lumMod val="20000"/>
                    <a:lumOff val="80000"/>
                  </a:schemeClr>
                </a:solidFill>
                <a:latin typeface="Times New Roman" panose="02020603050405020304" pitchFamily="18" charset="0"/>
                <a:cs typeface="Times New Roman" panose="02020603050405020304" pitchFamily="18" charset="0"/>
              </a:rPr>
              <a:t>, ICCMC 2019, no. </a:t>
            </a:r>
            <a:r>
              <a:rPr lang="en-US" dirty="0" err="1">
                <a:solidFill>
                  <a:schemeClr val="accent4">
                    <a:lumMod val="20000"/>
                    <a:lumOff val="80000"/>
                  </a:schemeClr>
                </a:solidFill>
                <a:latin typeface="Times New Roman" panose="02020603050405020304" pitchFamily="18" charset="0"/>
                <a:cs typeface="Times New Roman" panose="02020603050405020304" pitchFamily="18" charset="0"/>
              </a:rPr>
              <a:t>Iccmc</a:t>
            </a:r>
            <a:r>
              <a:rPr lang="en-US" dirty="0">
                <a:solidFill>
                  <a:schemeClr val="accent4">
                    <a:lumMod val="20000"/>
                    <a:lumOff val="80000"/>
                  </a:schemeClr>
                </a:solidFill>
                <a:latin typeface="Times New Roman" panose="02020603050405020304" pitchFamily="18" charset="0"/>
                <a:cs typeface="Times New Roman" panose="02020603050405020304" pitchFamily="18" charset="0"/>
              </a:rPr>
              <a:t>, pp. 1211–1215, 2019.</a:t>
            </a:r>
          </a:p>
          <a:p>
            <a:pPr algn="just"/>
            <a:endParaRPr lang="en-US" dirty="0">
              <a:solidFill>
                <a:schemeClr val="accent4">
                  <a:lumMod val="20000"/>
                  <a:lumOff val="80000"/>
                </a:schemeClr>
              </a:solidFill>
              <a:latin typeface="Times New Roman" panose="02020603050405020304" pitchFamily="18" charset="0"/>
              <a:cs typeface="Times New Roman" panose="02020603050405020304" pitchFamily="18" charset="0"/>
            </a:endParaRPr>
          </a:p>
          <a:p>
            <a:pPr algn="just"/>
            <a:r>
              <a:rPr lang="en-US" dirty="0">
                <a:solidFill>
                  <a:schemeClr val="accent4">
                    <a:lumMod val="20000"/>
                    <a:lumOff val="80000"/>
                  </a:schemeClr>
                </a:solidFill>
                <a:latin typeface="Times New Roman" panose="02020603050405020304" pitchFamily="18" charset="0"/>
                <a:cs typeface="Times New Roman" panose="02020603050405020304" pitchFamily="18" charset="0"/>
              </a:rPr>
              <a:t>11. 1] R. </a:t>
            </a:r>
            <a:r>
              <a:rPr lang="en-US" dirty="0" err="1">
                <a:solidFill>
                  <a:schemeClr val="accent4">
                    <a:lumMod val="20000"/>
                    <a:lumOff val="80000"/>
                  </a:schemeClr>
                </a:solidFill>
                <a:latin typeface="Times New Roman" panose="02020603050405020304" pitchFamily="18" charset="0"/>
                <a:cs typeface="Times New Roman" panose="02020603050405020304" pitchFamily="18" charset="0"/>
              </a:rPr>
              <a:t>Saravanan</a:t>
            </a:r>
            <a:r>
              <a:rPr lang="en-US" dirty="0">
                <a:solidFill>
                  <a:schemeClr val="accent4">
                    <a:lumMod val="20000"/>
                    <a:lumOff val="80000"/>
                  </a:schemeClr>
                </a:solidFill>
                <a:latin typeface="Times New Roman" panose="02020603050405020304" pitchFamily="18" charset="0"/>
                <a:cs typeface="Times New Roman" panose="02020603050405020304" pitchFamily="18" charset="0"/>
              </a:rPr>
              <a:t> and P. Sujatha, “</a:t>
            </a:r>
            <a:r>
              <a:rPr lang="en-US" i="1" dirty="0">
                <a:solidFill>
                  <a:schemeClr val="accent4">
                    <a:lumMod val="20000"/>
                    <a:lumOff val="80000"/>
                  </a:schemeClr>
                </a:solidFill>
                <a:latin typeface="Times New Roman" panose="02020603050405020304" pitchFamily="18" charset="0"/>
                <a:cs typeface="Times New Roman" panose="02020603050405020304" pitchFamily="18" charset="0"/>
              </a:rPr>
              <a:t>A state of art techniques on machine learning algorithms: A perspective of supervised learning approaches in data classification,” </a:t>
            </a:r>
            <a:r>
              <a:rPr lang="en-US" dirty="0">
                <a:solidFill>
                  <a:schemeClr val="accent4">
                    <a:lumMod val="20000"/>
                    <a:lumOff val="80000"/>
                  </a:schemeClr>
                </a:solidFill>
                <a:latin typeface="Times New Roman" panose="02020603050405020304" pitchFamily="18" charset="0"/>
                <a:cs typeface="Times New Roman" panose="02020603050405020304" pitchFamily="18" charset="0"/>
              </a:rPr>
              <a:t>in 2018 Second International Conference on Intelligent Computing and Control Systems (ICICCS), 2018, pp. 945– 949.</a:t>
            </a:r>
          </a:p>
          <a:p>
            <a:pPr algn="just"/>
            <a:endParaRPr lang="en-US" dirty="0">
              <a:solidFill>
                <a:schemeClr val="accent4">
                  <a:lumMod val="20000"/>
                  <a:lumOff val="80000"/>
                </a:schemeClr>
              </a:solidFill>
              <a:latin typeface="Times New Roman" panose="02020603050405020304" pitchFamily="18" charset="0"/>
              <a:cs typeface="Times New Roman" panose="02020603050405020304" pitchFamily="18" charset="0"/>
            </a:endParaRPr>
          </a:p>
          <a:p>
            <a:pPr algn="just"/>
            <a:r>
              <a:rPr lang="en-IN" dirty="0">
                <a:solidFill>
                  <a:schemeClr val="accent4">
                    <a:lumMod val="20000"/>
                    <a:lumOff val="80000"/>
                  </a:schemeClr>
                </a:solidFill>
                <a:latin typeface="Times New Roman" panose="02020603050405020304" pitchFamily="18" charset="0"/>
                <a:cs typeface="Times New Roman" panose="02020603050405020304" pitchFamily="18" charset="0"/>
              </a:rPr>
              <a:t>[22] H. L. Chen, C. C. Huang, X. G. Yu, X. Xu, X. Sun, G. Wang, and S. J. Wang, “</a:t>
            </a:r>
            <a:r>
              <a:rPr lang="en-IN" i="1" dirty="0">
                <a:solidFill>
                  <a:schemeClr val="accent4">
                    <a:lumMod val="20000"/>
                    <a:lumOff val="80000"/>
                  </a:schemeClr>
                </a:solidFill>
                <a:latin typeface="Times New Roman" panose="02020603050405020304" pitchFamily="18" charset="0"/>
                <a:cs typeface="Times New Roman" panose="02020603050405020304" pitchFamily="18" charset="0"/>
              </a:rPr>
              <a:t>An efficient diagnosis system for detection of Parkinson’s disease using fuzzy k-nearest </a:t>
            </a:r>
            <a:r>
              <a:rPr lang="en-IN" i="1" dirty="0" err="1">
                <a:solidFill>
                  <a:schemeClr val="accent4">
                    <a:lumMod val="20000"/>
                    <a:lumOff val="80000"/>
                  </a:schemeClr>
                </a:solidFill>
                <a:latin typeface="Times New Roman" panose="02020603050405020304" pitchFamily="18" charset="0"/>
                <a:cs typeface="Times New Roman" panose="02020603050405020304" pitchFamily="18" charset="0"/>
              </a:rPr>
              <a:t>neighbor</a:t>
            </a:r>
            <a:r>
              <a:rPr lang="en-IN" i="1" dirty="0">
                <a:solidFill>
                  <a:schemeClr val="accent4">
                    <a:lumMod val="20000"/>
                    <a:lumOff val="80000"/>
                  </a:schemeClr>
                </a:solidFill>
                <a:latin typeface="Times New Roman" panose="02020603050405020304" pitchFamily="18" charset="0"/>
                <a:cs typeface="Times New Roman" panose="02020603050405020304" pitchFamily="18" charset="0"/>
              </a:rPr>
              <a:t> approach</a:t>
            </a:r>
            <a:r>
              <a:rPr lang="en-IN" dirty="0">
                <a:solidFill>
                  <a:schemeClr val="accent4">
                    <a:lumMod val="20000"/>
                    <a:lumOff val="80000"/>
                  </a:schemeClr>
                </a:solidFill>
                <a:latin typeface="Times New Roman" panose="02020603050405020304" pitchFamily="18" charset="0"/>
                <a:cs typeface="Times New Roman" panose="02020603050405020304" pitchFamily="18" charset="0"/>
              </a:rPr>
              <a:t>,” Expert Systems with Applications, vol. 40, no. 1, pp. 263–271, 2013. [Online]. Available: http://dx.doi.org/10.1016/j.eswa.2012.07.014 </a:t>
            </a:r>
          </a:p>
          <a:p>
            <a:pPr algn="just"/>
            <a:endParaRPr lang="en-IN" dirty="0">
              <a:solidFill>
                <a:schemeClr val="accent4">
                  <a:lumMod val="20000"/>
                  <a:lumOff val="80000"/>
                </a:schemeClr>
              </a:solidFill>
              <a:latin typeface="Times New Roman" panose="02020603050405020304" pitchFamily="18" charset="0"/>
              <a:cs typeface="Times New Roman" panose="02020603050405020304" pitchFamily="18" charset="0"/>
            </a:endParaRPr>
          </a:p>
          <a:p>
            <a:pPr algn="just"/>
            <a:r>
              <a:rPr lang="en-IN" dirty="0">
                <a:solidFill>
                  <a:schemeClr val="accent4">
                    <a:lumMod val="20000"/>
                    <a:lumOff val="80000"/>
                  </a:schemeClr>
                </a:solidFill>
                <a:latin typeface="Times New Roman" panose="02020603050405020304" pitchFamily="18" charset="0"/>
                <a:cs typeface="Times New Roman" panose="02020603050405020304" pitchFamily="18" charset="0"/>
              </a:rPr>
              <a:t>[23] M. </a:t>
            </a:r>
            <a:r>
              <a:rPr lang="en-IN" dirty="0" err="1">
                <a:solidFill>
                  <a:schemeClr val="accent4">
                    <a:lumMod val="20000"/>
                    <a:lumOff val="80000"/>
                  </a:schemeClr>
                </a:solidFill>
                <a:latin typeface="Times New Roman" panose="02020603050405020304" pitchFamily="18" charset="0"/>
                <a:cs typeface="Times New Roman" panose="02020603050405020304" pitchFamily="18" charset="0"/>
              </a:rPr>
              <a:t>Behroozi</a:t>
            </a:r>
            <a:r>
              <a:rPr lang="en-IN" dirty="0">
                <a:solidFill>
                  <a:schemeClr val="accent4">
                    <a:lumMod val="20000"/>
                    <a:lumOff val="80000"/>
                  </a:schemeClr>
                </a:solidFill>
                <a:latin typeface="Times New Roman" panose="02020603050405020304" pitchFamily="18" charset="0"/>
                <a:cs typeface="Times New Roman" panose="02020603050405020304" pitchFamily="18" charset="0"/>
              </a:rPr>
              <a:t> and A. Sami, “</a:t>
            </a:r>
            <a:r>
              <a:rPr lang="en-IN" i="1" dirty="0">
                <a:solidFill>
                  <a:schemeClr val="accent4">
                    <a:lumMod val="20000"/>
                    <a:lumOff val="80000"/>
                  </a:schemeClr>
                </a:solidFill>
                <a:latin typeface="Times New Roman" panose="02020603050405020304" pitchFamily="18" charset="0"/>
                <a:cs typeface="Times New Roman" panose="02020603050405020304" pitchFamily="18" charset="0"/>
              </a:rPr>
              <a:t>A multiple-classifier framework for Parkinson’s disease detection based on various vocal tests</a:t>
            </a:r>
            <a:r>
              <a:rPr lang="en-IN" dirty="0">
                <a:solidFill>
                  <a:schemeClr val="accent4">
                    <a:lumMod val="20000"/>
                    <a:lumOff val="80000"/>
                  </a:schemeClr>
                </a:solidFill>
                <a:latin typeface="Times New Roman" panose="02020603050405020304" pitchFamily="18" charset="0"/>
                <a:cs typeface="Times New Roman" panose="02020603050405020304" pitchFamily="18" charset="0"/>
              </a:rPr>
              <a:t>,” International Journal of Telemedicine and Applications, vol. 2016, 2016.</a:t>
            </a:r>
          </a:p>
          <a:p>
            <a:pPr algn="just"/>
            <a:endParaRPr lang="en-IN" dirty="0">
              <a:solidFill>
                <a:schemeClr val="accent4">
                  <a:lumMod val="20000"/>
                  <a:lumOff val="80000"/>
                </a:schemeClr>
              </a:solidFill>
              <a:latin typeface="Times New Roman" panose="02020603050405020304" pitchFamily="18" charset="0"/>
              <a:cs typeface="Times New Roman" panose="02020603050405020304" pitchFamily="18" charset="0"/>
            </a:endParaRPr>
          </a:p>
          <a:p>
            <a:pPr algn="just"/>
            <a:r>
              <a:rPr lang="en-IN" dirty="0">
                <a:solidFill>
                  <a:schemeClr val="accent4">
                    <a:lumMod val="20000"/>
                    <a:lumOff val="80000"/>
                  </a:schemeClr>
                </a:solidFill>
                <a:latin typeface="Times New Roman" panose="02020603050405020304" pitchFamily="18" charset="0"/>
                <a:cs typeface="Times New Roman" panose="02020603050405020304" pitchFamily="18" charset="0"/>
              </a:rPr>
              <a:t>[24] O. </a:t>
            </a:r>
            <a:r>
              <a:rPr lang="en-IN" dirty="0" err="1">
                <a:solidFill>
                  <a:schemeClr val="accent4">
                    <a:lumMod val="20000"/>
                    <a:lumOff val="80000"/>
                  </a:schemeClr>
                </a:solidFill>
                <a:latin typeface="Times New Roman" panose="02020603050405020304" pitchFamily="18" charset="0"/>
                <a:cs typeface="Times New Roman" panose="02020603050405020304" pitchFamily="18" charset="0"/>
              </a:rPr>
              <a:t>Eskidere</a:t>
            </a:r>
            <a:r>
              <a:rPr lang="en-IN" dirty="0">
                <a:solidFill>
                  <a:schemeClr val="accent4">
                    <a:lumMod val="20000"/>
                    <a:lumOff val="80000"/>
                  </a:schemeClr>
                </a:solidFill>
                <a:latin typeface="Times New Roman" panose="02020603050405020304" pitchFamily="18" charset="0"/>
                <a:cs typeface="Times New Roman" panose="02020603050405020304" pitchFamily="18" charset="0"/>
              </a:rPr>
              <a:t>, F. </a:t>
            </a:r>
            <a:r>
              <a:rPr lang="en-IN" dirty="0" err="1">
                <a:solidFill>
                  <a:schemeClr val="accent4">
                    <a:lumMod val="20000"/>
                    <a:lumOff val="80000"/>
                  </a:schemeClr>
                </a:solidFill>
                <a:latin typeface="Times New Roman" panose="02020603050405020304" pitchFamily="18" charset="0"/>
                <a:cs typeface="Times New Roman" panose="02020603050405020304" pitchFamily="18" charset="0"/>
              </a:rPr>
              <a:t>Ertas</a:t>
            </a:r>
            <a:r>
              <a:rPr lang="en-IN" dirty="0">
                <a:solidFill>
                  <a:schemeClr val="accent4">
                    <a:lumMod val="20000"/>
                    <a:lumOff val="80000"/>
                  </a:schemeClr>
                </a:solidFill>
                <a:latin typeface="Times New Roman" panose="02020603050405020304" pitchFamily="18" charset="0"/>
                <a:cs typeface="Times New Roman" panose="02020603050405020304" pitchFamily="18" charset="0"/>
              </a:rPr>
              <a:t>¸, and C. </a:t>
            </a:r>
            <a:r>
              <a:rPr lang="en-IN" dirty="0" err="1">
                <a:solidFill>
                  <a:schemeClr val="accent4">
                    <a:lumMod val="20000"/>
                    <a:lumOff val="80000"/>
                  </a:schemeClr>
                </a:solidFill>
                <a:latin typeface="Times New Roman" panose="02020603050405020304" pitchFamily="18" charset="0"/>
                <a:cs typeface="Times New Roman" panose="02020603050405020304" pitchFamily="18" charset="0"/>
              </a:rPr>
              <a:t>Hanilc¸i</a:t>
            </a:r>
            <a:r>
              <a:rPr lang="en-IN" dirty="0">
                <a:solidFill>
                  <a:schemeClr val="accent4">
                    <a:lumMod val="20000"/>
                    <a:lumOff val="80000"/>
                  </a:schemeClr>
                </a:solidFill>
                <a:latin typeface="Times New Roman" panose="02020603050405020304" pitchFamily="18" charset="0"/>
                <a:cs typeface="Times New Roman" panose="02020603050405020304" pitchFamily="18" charset="0"/>
              </a:rPr>
              <a:t>, “</a:t>
            </a:r>
            <a:r>
              <a:rPr lang="en-IN" i="1" dirty="0">
                <a:solidFill>
                  <a:schemeClr val="accent4">
                    <a:lumMod val="20000"/>
                    <a:lumOff val="80000"/>
                  </a:schemeClr>
                </a:solidFill>
                <a:latin typeface="Times New Roman" panose="02020603050405020304" pitchFamily="18" charset="0"/>
                <a:cs typeface="Times New Roman" panose="02020603050405020304" pitchFamily="18" charset="0"/>
              </a:rPr>
              <a:t>A comparison of regression ¨ methods for remote tracking of Parkinson’s disease progression</a:t>
            </a:r>
            <a:r>
              <a:rPr lang="en-IN" dirty="0">
                <a:solidFill>
                  <a:schemeClr val="accent4">
                    <a:lumMod val="20000"/>
                    <a:lumOff val="80000"/>
                  </a:schemeClr>
                </a:solidFill>
                <a:latin typeface="Times New Roman" panose="02020603050405020304" pitchFamily="18" charset="0"/>
                <a:cs typeface="Times New Roman" panose="02020603050405020304" pitchFamily="18" charset="0"/>
              </a:rPr>
              <a:t>,” Expert Systems with Applications, vol. 39, no. 5, pp. 5523–5528, 2012.</a:t>
            </a:r>
          </a:p>
          <a:p>
            <a:pPr algn="just"/>
            <a:endParaRPr lang="en-US" dirty="0">
              <a:solidFill>
                <a:schemeClr val="accent4">
                  <a:lumMod val="20000"/>
                  <a:lumOff val="80000"/>
                </a:schemeClr>
              </a:solidFill>
              <a:latin typeface="Times New Roman" panose="02020603050405020304" pitchFamily="18" charset="0"/>
              <a:cs typeface="Times New Roman" panose="02020603050405020304" pitchFamily="18" charset="0"/>
            </a:endParaRPr>
          </a:p>
          <a:p>
            <a:pPr algn="just"/>
            <a:endParaRPr lang="en-IN" dirty="0">
              <a:solidFill>
                <a:schemeClr val="accent4">
                  <a:lumMod val="20000"/>
                  <a:lumOff val="8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39808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olid navy blue concrete textured wa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01" y="0"/>
            <a:ext cx="12217401" cy="68580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Solid navy blue concrete textured w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9" y="0"/>
            <a:ext cx="12187501"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965915" y="540913"/>
            <a:ext cx="9324305" cy="1938992"/>
          </a:xfrm>
          <a:prstGeom prst="rect">
            <a:avLst/>
          </a:prstGeom>
          <a:noFill/>
        </p:spPr>
        <p:txBody>
          <a:bodyPr wrap="square" rtlCol="0">
            <a:spAutoFit/>
          </a:bodyPr>
          <a:lstStyle/>
          <a:p>
            <a:r>
              <a:rPr lang="en-IN" sz="2000" dirty="0">
                <a:solidFill>
                  <a:schemeClr val="accent4">
                    <a:lumMod val="40000"/>
                    <a:lumOff val="60000"/>
                  </a:schemeClr>
                </a:solidFill>
                <a:latin typeface="Times New Roman" panose="02020603050405020304" pitchFamily="18" charset="0"/>
                <a:cs typeface="Times New Roman" panose="02020603050405020304" pitchFamily="18" charset="0"/>
              </a:rPr>
              <a:t>[16] M. </a:t>
            </a:r>
            <a:r>
              <a:rPr lang="en-IN" sz="2000" dirty="0" err="1">
                <a:solidFill>
                  <a:schemeClr val="accent4">
                    <a:lumMod val="40000"/>
                    <a:lumOff val="60000"/>
                  </a:schemeClr>
                </a:solidFill>
                <a:latin typeface="Times New Roman" panose="02020603050405020304" pitchFamily="18" charset="0"/>
                <a:cs typeface="Times New Roman" panose="02020603050405020304" pitchFamily="18" charset="0"/>
              </a:rPr>
              <a:t>Marimuthu</a:t>
            </a:r>
            <a:r>
              <a:rPr lang="en-IN" sz="2000" dirty="0">
                <a:solidFill>
                  <a:schemeClr val="accent4">
                    <a:lumMod val="40000"/>
                    <a:lumOff val="60000"/>
                  </a:schemeClr>
                </a:solidFill>
                <a:latin typeface="Times New Roman" panose="02020603050405020304" pitchFamily="18" charset="0"/>
                <a:cs typeface="Times New Roman" panose="02020603050405020304" pitchFamily="18" charset="0"/>
              </a:rPr>
              <a:t>, M. </a:t>
            </a:r>
            <a:r>
              <a:rPr lang="en-IN" sz="2000" dirty="0" err="1">
                <a:solidFill>
                  <a:schemeClr val="accent4">
                    <a:lumMod val="40000"/>
                    <a:lumOff val="60000"/>
                  </a:schemeClr>
                </a:solidFill>
                <a:latin typeface="Times New Roman" panose="02020603050405020304" pitchFamily="18" charset="0"/>
                <a:cs typeface="Times New Roman" panose="02020603050405020304" pitchFamily="18" charset="0"/>
              </a:rPr>
              <a:t>Abinaya</a:t>
            </a:r>
            <a:r>
              <a:rPr lang="en-IN" sz="2000" dirty="0">
                <a:solidFill>
                  <a:schemeClr val="accent4">
                    <a:lumMod val="40000"/>
                    <a:lumOff val="60000"/>
                  </a:schemeClr>
                </a:solidFill>
                <a:latin typeface="Times New Roman" panose="02020603050405020304" pitchFamily="18" charset="0"/>
                <a:cs typeface="Times New Roman" panose="02020603050405020304" pitchFamily="18" charset="0"/>
              </a:rPr>
              <a:t>, K. S., K. </a:t>
            </a:r>
            <a:r>
              <a:rPr lang="en-IN" sz="2000" dirty="0" err="1">
                <a:solidFill>
                  <a:schemeClr val="accent4">
                    <a:lumMod val="40000"/>
                    <a:lumOff val="60000"/>
                  </a:schemeClr>
                </a:solidFill>
                <a:latin typeface="Times New Roman" panose="02020603050405020304" pitchFamily="18" charset="0"/>
                <a:cs typeface="Times New Roman" panose="02020603050405020304" pitchFamily="18" charset="0"/>
              </a:rPr>
              <a:t>Madhankumar</a:t>
            </a:r>
            <a:r>
              <a:rPr lang="en-IN" sz="2000" dirty="0">
                <a:solidFill>
                  <a:schemeClr val="accent4">
                    <a:lumMod val="40000"/>
                    <a:lumOff val="60000"/>
                  </a:schemeClr>
                </a:solidFill>
                <a:latin typeface="Times New Roman" panose="02020603050405020304" pitchFamily="18" charset="0"/>
                <a:cs typeface="Times New Roman" panose="02020603050405020304" pitchFamily="18" charset="0"/>
              </a:rPr>
              <a:t>, and V. </a:t>
            </a:r>
            <a:r>
              <a:rPr lang="en-IN" sz="2000" dirty="0" err="1">
                <a:solidFill>
                  <a:schemeClr val="accent4">
                    <a:lumMod val="40000"/>
                    <a:lumOff val="60000"/>
                  </a:schemeClr>
                </a:solidFill>
                <a:latin typeface="Times New Roman" panose="02020603050405020304" pitchFamily="18" charset="0"/>
                <a:cs typeface="Times New Roman" panose="02020603050405020304" pitchFamily="18" charset="0"/>
              </a:rPr>
              <a:t>Pavithra</a:t>
            </a:r>
            <a:r>
              <a:rPr lang="en-IN" sz="2000" dirty="0">
                <a:solidFill>
                  <a:schemeClr val="accent4">
                    <a:lumMod val="40000"/>
                    <a:lumOff val="60000"/>
                  </a:schemeClr>
                </a:solidFill>
                <a:latin typeface="Times New Roman" panose="02020603050405020304" pitchFamily="18" charset="0"/>
                <a:cs typeface="Times New Roman" panose="02020603050405020304" pitchFamily="18" charset="0"/>
              </a:rPr>
              <a:t>, “</a:t>
            </a:r>
            <a:r>
              <a:rPr lang="en-IN" sz="2000" i="1" dirty="0">
                <a:solidFill>
                  <a:schemeClr val="accent4">
                    <a:lumMod val="40000"/>
                    <a:lumOff val="60000"/>
                  </a:schemeClr>
                </a:solidFill>
                <a:latin typeface="Times New Roman" panose="02020603050405020304" pitchFamily="18" charset="0"/>
                <a:cs typeface="Times New Roman" panose="02020603050405020304" pitchFamily="18" charset="0"/>
              </a:rPr>
              <a:t>A Review on Heart Disease Prediction using Machine Learning and Data Analytics Approach,” International Journal of Computer Applications</a:t>
            </a:r>
            <a:r>
              <a:rPr lang="en-IN" sz="2000" dirty="0">
                <a:solidFill>
                  <a:schemeClr val="accent4">
                    <a:lumMod val="40000"/>
                    <a:lumOff val="60000"/>
                  </a:schemeClr>
                </a:solidFill>
                <a:latin typeface="Times New Roman" panose="02020603050405020304" pitchFamily="18" charset="0"/>
                <a:cs typeface="Times New Roman" panose="02020603050405020304" pitchFamily="18" charset="0"/>
              </a:rPr>
              <a:t>, vol. 181, no. 18, pp. 20–25, 2018.</a:t>
            </a:r>
          </a:p>
          <a:p>
            <a:r>
              <a:rPr lang="en-IN" sz="2000" dirty="0">
                <a:solidFill>
                  <a:schemeClr val="accent4">
                    <a:lumMod val="40000"/>
                    <a:lumOff val="60000"/>
                  </a:schemeClr>
                </a:solidFill>
                <a:latin typeface="Times New Roman" panose="02020603050405020304" pitchFamily="18" charset="0"/>
                <a:cs typeface="Times New Roman" panose="02020603050405020304" pitchFamily="18" charset="0"/>
              </a:rPr>
              <a:t> [17] A. K. </a:t>
            </a:r>
            <a:r>
              <a:rPr lang="en-IN" sz="2000" dirty="0" err="1">
                <a:solidFill>
                  <a:schemeClr val="accent4">
                    <a:lumMod val="40000"/>
                    <a:lumOff val="60000"/>
                  </a:schemeClr>
                </a:solidFill>
                <a:latin typeface="Times New Roman" panose="02020603050405020304" pitchFamily="18" charset="0"/>
                <a:cs typeface="Times New Roman" panose="02020603050405020304" pitchFamily="18" charset="0"/>
              </a:rPr>
              <a:t>Dwivedi</a:t>
            </a:r>
            <a:r>
              <a:rPr lang="en-IN" sz="2000" dirty="0">
                <a:solidFill>
                  <a:schemeClr val="accent4">
                    <a:lumMod val="40000"/>
                    <a:lumOff val="60000"/>
                  </a:schemeClr>
                </a:solidFill>
                <a:latin typeface="Times New Roman" panose="02020603050405020304" pitchFamily="18" charset="0"/>
                <a:cs typeface="Times New Roman" panose="02020603050405020304" pitchFamily="18" charset="0"/>
              </a:rPr>
              <a:t>, “</a:t>
            </a:r>
            <a:r>
              <a:rPr lang="en-IN" sz="2000" i="1" dirty="0">
                <a:solidFill>
                  <a:schemeClr val="accent4">
                    <a:lumMod val="40000"/>
                    <a:lumOff val="60000"/>
                  </a:schemeClr>
                </a:solidFill>
                <a:latin typeface="Times New Roman" panose="02020603050405020304" pitchFamily="18" charset="0"/>
                <a:cs typeface="Times New Roman" panose="02020603050405020304" pitchFamily="18" charset="0"/>
              </a:rPr>
              <a:t>Performance evaluation of different machine learning techniques for prediction of heart disease</a:t>
            </a:r>
            <a:r>
              <a:rPr lang="en-IN" sz="2000" dirty="0">
                <a:solidFill>
                  <a:schemeClr val="accent4">
                    <a:lumMod val="40000"/>
                    <a:lumOff val="60000"/>
                  </a:schemeClr>
                </a:solidFill>
                <a:latin typeface="Times New Roman" panose="02020603050405020304" pitchFamily="18" charset="0"/>
                <a:cs typeface="Times New Roman" panose="02020603050405020304" pitchFamily="18" charset="0"/>
              </a:rPr>
              <a:t>,” Neural Computing and Applications, vol. 29, no. 10, pp. 685–693, 2018. [18] K. </a:t>
            </a:r>
          </a:p>
        </p:txBody>
      </p:sp>
      <p:sp>
        <p:nvSpPr>
          <p:cNvPr id="2" name="TextBox 1">
            <a:hlinkClick r:id="rId4"/>
          </p:cNvPr>
          <p:cNvSpPr txBox="1"/>
          <p:nvPr/>
        </p:nvSpPr>
        <p:spPr>
          <a:xfrm>
            <a:off x="965915" y="2866930"/>
            <a:ext cx="10094176" cy="4893647"/>
          </a:xfrm>
          <a:prstGeom prst="rect">
            <a:avLst/>
          </a:prstGeom>
          <a:noFill/>
        </p:spPr>
        <p:txBody>
          <a:bodyPr wrap="square" rtlCol="0">
            <a:spAutoFit/>
          </a:bodyPr>
          <a:lstStyle/>
          <a:p>
            <a:r>
              <a:rPr lang="en-US" sz="2400" dirty="0" smtClean="0">
                <a:solidFill>
                  <a:schemeClr val="accent4">
                    <a:lumMod val="40000"/>
                    <a:lumOff val="60000"/>
                  </a:schemeClr>
                </a:solidFill>
              </a:rPr>
              <a:t>Project Link:</a:t>
            </a:r>
          </a:p>
          <a:p>
            <a:r>
              <a:rPr lang="en-US" sz="2400" dirty="0" smtClean="0">
                <a:solidFill>
                  <a:schemeClr val="accent4">
                    <a:lumMod val="40000"/>
                    <a:lumOff val="60000"/>
                  </a:schemeClr>
                </a:solidFill>
              </a:rPr>
              <a:t>https</a:t>
            </a:r>
            <a:r>
              <a:rPr lang="en-US" sz="2400" dirty="0">
                <a:solidFill>
                  <a:schemeClr val="accent4">
                    <a:lumMod val="40000"/>
                    <a:lumOff val="60000"/>
                  </a:schemeClr>
                </a:solidFill>
              </a:rPr>
              <a:t>://drive.google.com/drive/u/0/folders/1Gq5t7SBVBhKAEkTFuZtO9WNMMTmkdroq</a:t>
            </a:r>
          </a:p>
          <a:p>
            <a:endParaRPr lang="en-US" sz="2400" dirty="0" smtClean="0">
              <a:solidFill>
                <a:schemeClr val="accent4">
                  <a:lumMod val="40000"/>
                  <a:lumOff val="60000"/>
                </a:schemeClr>
              </a:solidFill>
            </a:endParaRPr>
          </a:p>
          <a:p>
            <a:endParaRPr lang="en-US" sz="2400" dirty="0">
              <a:solidFill>
                <a:schemeClr val="accent4">
                  <a:lumMod val="40000"/>
                  <a:lumOff val="60000"/>
                </a:schemeClr>
              </a:solidFill>
            </a:endParaRPr>
          </a:p>
          <a:p>
            <a:endParaRPr lang="en-US" sz="2400" dirty="0" smtClean="0">
              <a:solidFill>
                <a:schemeClr val="accent4">
                  <a:lumMod val="40000"/>
                  <a:lumOff val="60000"/>
                </a:schemeClr>
              </a:solidFill>
            </a:endParaRPr>
          </a:p>
          <a:p>
            <a:endParaRPr lang="en-US" sz="2400" dirty="0">
              <a:solidFill>
                <a:schemeClr val="accent4">
                  <a:lumMod val="40000"/>
                  <a:lumOff val="60000"/>
                </a:schemeClr>
              </a:solidFill>
            </a:endParaRPr>
          </a:p>
          <a:p>
            <a:endParaRPr lang="en-US" sz="2400" dirty="0" smtClean="0">
              <a:solidFill>
                <a:schemeClr val="accent4">
                  <a:lumMod val="40000"/>
                  <a:lumOff val="60000"/>
                </a:schemeClr>
              </a:solidFill>
            </a:endParaRPr>
          </a:p>
          <a:p>
            <a:endParaRPr lang="en-US" sz="2400" dirty="0">
              <a:solidFill>
                <a:schemeClr val="accent4">
                  <a:lumMod val="40000"/>
                  <a:lumOff val="60000"/>
                </a:schemeClr>
              </a:solidFill>
            </a:endParaRPr>
          </a:p>
          <a:p>
            <a:endParaRPr lang="en-US" sz="2400" dirty="0" smtClean="0">
              <a:solidFill>
                <a:schemeClr val="accent4">
                  <a:lumMod val="40000"/>
                  <a:lumOff val="60000"/>
                </a:schemeClr>
              </a:solidFill>
            </a:endParaRPr>
          </a:p>
          <a:p>
            <a:endParaRPr lang="en-US" sz="2400" dirty="0">
              <a:solidFill>
                <a:schemeClr val="accent4">
                  <a:lumMod val="40000"/>
                  <a:lumOff val="60000"/>
                </a:schemeClr>
              </a:solidFill>
            </a:endParaRPr>
          </a:p>
          <a:p>
            <a:endParaRPr lang="en-US" sz="2400" dirty="0" smtClean="0">
              <a:solidFill>
                <a:schemeClr val="accent4">
                  <a:lumMod val="40000"/>
                  <a:lumOff val="60000"/>
                </a:schemeClr>
              </a:solidFill>
            </a:endParaRPr>
          </a:p>
          <a:p>
            <a:endParaRPr lang="en-IN" sz="2400" dirty="0">
              <a:solidFill>
                <a:schemeClr val="accent4">
                  <a:lumMod val="40000"/>
                  <a:lumOff val="60000"/>
                </a:schemeClr>
              </a:solidFill>
            </a:endParaRPr>
          </a:p>
        </p:txBody>
      </p:sp>
    </p:spTree>
    <p:extLst>
      <p:ext uri="{BB962C8B-B14F-4D97-AF65-F5344CB8AC3E}">
        <p14:creationId xmlns:p14="http://schemas.microsoft.com/office/powerpoint/2010/main" val="12750852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Solid navy blue concrete textured wa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9" y="0"/>
            <a:ext cx="12187501"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3129566" y="2967334"/>
            <a:ext cx="5171494" cy="923330"/>
          </a:xfrm>
          <a:prstGeom prst="rect">
            <a:avLst/>
          </a:prstGeom>
          <a:noFill/>
        </p:spPr>
        <p:txBody>
          <a:bodyPr wrap="square" lIns="91440" tIns="45720" rIns="91440" bIns="45720">
            <a:spAutoFit/>
          </a:bodyPr>
          <a:lstStyle/>
          <a:p>
            <a:pPr algn="ctr"/>
            <a:r>
              <a:rPr lang="en-US" sz="54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Netflix Sans Med" panose="020B0703020202020204" pitchFamily="34" charset="0"/>
                <a:ea typeface="Netflix Sans Med" panose="020B0703020202020204" pitchFamily="34" charset="0"/>
                <a:cs typeface="Netflix Sans Med" panose="020B0703020202020204" pitchFamily="34" charset="0"/>
              </a:rPr>
              <a:t>THANK YOU</a:t>
            </a:r>
          </a:p>
        </p:txBody>
      </p:sp>
    </p:spTree>
    <p:extLst>
      <p:ext uri="{BB962C8B-B14F-4D97-AF65-F5344CB8AC3E}">
        <p14:creationId xmlns:p14="http://schemas.microsoft.com/office/powerpoint/2010/main" val="24456901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F4F4D41-822D-40F2-A7AC-E4E6CB36CA7A}">
  <ds:schemaRefs>
    <ds:schemaRef ds:uri="71af3243-3dd4-4a8d-8c0d-dd76da1f02a5"/>
    <ds:schemaRef ds:uri="http://purl.org/dc/terms/"/>
    <ds:schemaRef ds:uri="http://schemas.microsoft.com/office/2006/documentManagement/types"/>
    <ds:schemaRef ds:uri="http://purl.org/dc/dcmitype/"/>
    <ds:schemaRef ds:uri="http://schemas.microsoft.com/sharepoint/v3"/>
    <ds:schemaRef ds:uri="http://schemas.openxmlformats.org/package/2006/metadata/core-properties"/>
    <ds:schemaRef ds:uri="16c05727-aa75-4e4a-9b5f-8a80a1165891"/>
    <ds:schemaRef ds:uri="http://schemas.microsoft.com/office/infopath/2007/PartnerControls"/>
    <ds:schemaRef ds:uri="http://schemas.microsoft.com/office/2006/metadata/properties"/>
    <ds:schemaRef ds:uri="230e9df3-be65-4c73-a93b-d1236ebd677e"/>
    <ds:schemaRef ds:uri="http://www.w3.org/XML/1998/namespace"/>
    <ds:schemaRef ds:uri="http://purl.org/dc/elements/1.1/"/>
  </ds:schemaRefs>
</ds:datastoreItem>
</file>

<file path=customXml/itemProps2.xml><?xml version="1.0" encoding="utf-8"?>
<ds:datastoreItem xmlns:ds="http://schemas.openxmlformats.org/officeDocument/2006/customXml" ds:itemID="{C5A59D56-2157-4202-9D02-F44E447A24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9DAD249-BF80-48EF-9AFB-36A11BCDC2C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533</TotalTime>
  <Words>2280</Words>
  <Application>Microsoft Office PowerPoint</Application>
  <PresentationFormat>Widescreen</PresentationFormat>
  <Paragraphs>102</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Blackpast DEMO</vt:lpstr>
      <vt:lpstr>Calibri</vt:lpstr>
      <vt:lpstr>Calibri Light</vt:lpstr>
      <vt:lpstr>Netflix Sans Med</vt:lpstr>
      <vt:lpstr>Times New Roman</vt:lpstr>
      <vt:lpstr>Office Theme</vt:lpstr>
      <vt:lpstr>Disease Prediction Using Machine Learning</vt:lpstr>
      <vt:lpstr>PowerPoint Presentation</vt:lpstr>
      <vt:lpstr>Abstract</vt:lpstr>
      <vt:lpstr>Introduction</vt:lpstr>
      <vt:lpstr>Problem Statement</vt:lpstr>
      <vt:lpstr>Objectives</vt:lpstr>
      <vt:lpstr>Literature Survey</vt:lpstr>
      <vt:lpstr>PowerPoint Presentation</vt:lpstr>
      <vt:lpstr>PowerPoint Presentation</vt:lpstr>
      <vt:lpstr>PowerPoint Presentation</vt:lpstr>
      <vt:lpstr>Flowchart-Modelling using SVC, Naive Bayes, random forest</vt:lpstr>
      <vt:lpstr> Methodology</vt:lpstr>
      <vt:lpstr>Result</vt:lpstr>
      <vt:lpstr>Conclusion</vt:lpstr>
      <vt:lpstr>PowerPoint Presentation</vt:lpstr>
      <vt:lpstr>Reference:</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Epidemic prediction</dc:title>
  <dc:creator>Kartik kumar singh</dc:creator>
  <cp:lastModifiedBy>Microsoft account</cp:lastModifiedBy>
  <cp:revision>128</cp:revision>
  <dcterms:created xsi:type="dcterms:W3CDTF">2024-04-16T12:42:34Z</dcterms:created>
  <dcterms:modified xsi:type="dcterms:W3CDTF">2024-04-21T09:34:06Z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